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AAABA"/>
                </a:solidFill>
                <a:latin typeface="Arial"/>
              </a:defRPr>
            </a:pPr>
            <a:r>
              <a:rPr lang="es-CO" sz="1000" b="0" i="0" u="none" strike="noStrike">
                <a:solidFill>
                  <a:srgbClr val="8AAABA"/>
                </a:solidFill>
                <a:latin typeface="Arial"/>
              </a:rPr>
              <a:t>Tiempo en segundos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 (seg)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N=100</c:v>
                </c:pt>
                <c:pt idx="1">
                  <c:v>N=10K</c:v>
                </c:pt>
                <c:pt idx="2">
                  <c:v>N=500K/Q=1M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1E-4</c:v>
                </c:pt>
                <c:pt idx="1">
                  <c:v>1.1000000000000001</c:v>
                </c:pt>
                <c:pt idx="2">
                  <c:v>3060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F7-46BE-8BBD-1A61F1EB83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Sparse Table (seg)</c:v>
                </c:pt>
              </c:strCache>
            </c:strRef>
          </c:tx>
          <c:spPr>
            <a:solidFill>
              <a:srgbClr val="00E5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N=100</c:v>
                </c:pt>
                <c:pt idx="1">
                  <c:v>N=10K</c:v>
                </c:pt>
                <c:pt idx="2">
                  <c:v>N=500K/Q=1M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1E-4</c:v>
                </c:pt>
                <c:pt idx="1">
                  <c:v>6.0000000000000001E-3</c:v>
                </c:pt>
                <c:pt idx="2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F7-46BE-8BBD-1A61F1EB83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ABA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A637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ABA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solidFill>
          <a:srgbClr val="1A2E45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92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7728" y="0"/>
            <a:ext cx="137160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74320"/>
            <a:ext cx="109728" cy="109728"/>
          </a:xfrm>
          <a:prstGeom prst="ellipse">
            <a:avLst/>
          </a:prstGeom>
          <a:solidFill>
            <a:srgbClr val="0091B5">
              <a:alpha val="60000"/>
            </a:srgbClr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07808" y="777240"/>
            <a:ext cx="109728" cy="109728"/>
          </a:xfrm>
          <a:prstGeom prst="ellipse">
            <a:avLst/>
          </a:prstGeom>
          <a:solidFill>
            <a:srgbClr val="0091B5">
              <a:alpha val="60000"/>
            </a:srgbClr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08976" y="1280160"/>
            <a:ext cx="109728" cy="109728"/>
          </a:xfrm>
          <a:prstGeom prst="ellipse">
            <a:avLst/>
          </a:prstGeom>
          <a:solidFill>
            <a:srgbClr val="0091B5">
              <a:alpha val="60000"/>
            </a:srgbClr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0144" y="1783080"/>
            <a:ext cx="109728" cy="109728"/>
          </a:xfrm>
          <a:prstGeom prst="ellipse">
            <a:avLst/>
          </a:prstGeom>
          <a:solidFill>
            <a:srgbClr val="0091B5">
              <a:alpha val="60000"/>
            </a:srgbClr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11312" y="2286000"/>
            <a:ext cx="109728" cy="109728"/>
          </a:xfrm>
          <a:prstGeom prst="ellipse">
            <a:avLst/>
          </a:prstGeom>
          <a:solidFill>
            <a:srgbClr val="0091B5">
              <a:alpha val="60000"/>
            </a:srgbClr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2788920"/>
            <a:ext cx="109728" cy="109728"/>
          </a:xfrm>
          <a:prstGeom prst="ellipse">
            <a:avLst/>
          </a:prstGeom>
          <a:solidFill>
            <a:srgbClr val="0091B5">
              <a:alpha val="60000"/>
            </a:srgbClr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54864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Consultas de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en Rango (RMQ)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" y="208483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O(N) a O(1)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3657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260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Masiva mediante Precomputación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Propiedad de Idempotencia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del Valle  •  Estructuras de Datos y Algoritmos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Dilan Nicolas Peña P. #2264304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github.com/[usuario]/rmq-proyecto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RMQ? Planteamiento del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22860"/>
          </a:xfrm>
          <a:prstGeom prst="rect">
            <a:avLst/>
          </a:prstGeom>
          <a:solidFill>
            <a:srgbClr val="0091B5"/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ABA"/>
                </a:solidFill>
              </a:rPr>
              <a:t>2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
</a:t>
            </a: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arreglo A de tamaño N:
</a:t>
            </a: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elemento mínimo entre [L, R]?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594360" cy="594360"/>
          </a:xfrm>
          <a:prstGeom prst="rect">
            <a:avLst/>
          </a:prstGeom>
          <a:solidFill>
            <a:srgbClr val="1A2E45"/>
          </a:solidFill>
          <a:ln w="15240">
            <a:solidFill>
              <a:srgbClr val="4A63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96312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307238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A"/>
                </a:solidFill>
              </a:rPr>
              <a:t>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2423160"/>
            <a:ext cx="594360" cy="594360"/>
          </a:xfrm>
          <a:prstGeom prst="rect">
            <a:avLst/>
          </a:prstGeom>
          <a:solidFill>
            <a:srgbClr val="00C6F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96312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07238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A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00200" y="2423160"/>
            <a:ext cx="594360" cy="594360"/>
          </a:xfrm>
          <a:prstGeom prst="rect">
            <a:avLst/>
          </a:prstGeom>
          <a:solidFill>
            <a:srgbClr val="0091B5"/>
          </a:solidFill>
          <a:ln w="15240">
            <a:solidFill>
              <a:srgbClr val="4A63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496312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07238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A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40280" y="2423160"/>
            <a:ext cx="594360" cy="594360"/>
          </a:xfrm>
          <a:prstGeom prst="rect">
            <a:avLst/>
          </a:prstGeom>
          <a:solidFill>
            <a:srgbClr val="0091B5"/>
          </a:solidFill>
          <a:ln w="15240">
            <a:solidFill>
              <a:srgbClr val="4A63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2496312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40280" y="307238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A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80360" y="2423160"/>
            <a:ext cx="594360" cy="594360"/>
          </a:xfrm>
          <a:prstGeom prst="rect">
            <a:avLst/>
          </a:prstGeom>
          <a:solidFill>
            <a:srgbClr val="1A2E45"/>
          </a:solidFill>
          <a:ln w="15240">
            <a:solidFill>
              <a:srgbClr val="4A63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2496312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80360" y="307238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A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20440" y="2423160"/>
            <a:ext cx="594360" cy="594360"/>
          </a:xfrm>
          <a:prstGeom prst="rect">
            <a:avLst/>
          </a:prstGeom>
          <a:solidFill>
            <a:srgbClr val="1A2E45"/>
          </a:solidFill>
          <a:ln w="15240">
            <a:solidFill>
              <a:srgbClr val="4A63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496312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520440" y="307238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A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2423160"/>
            <a:ext cx="594360" cy="594360"/>
          </a:xfrm>
          <a:prstGeom prst="rect">
            <a:avLst/>
          </a:prstGeom>
          <a:solidFill>
            <a:srgbClr val="1A2E45"/>
          </a:solidFill>
          <a:ln w="15240">
            <a:solidFill>
              <a:srgbClr val="4A63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2496312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60520" y="307238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A"/>
                </a:solidFill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212140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[7, 2, 8, 4, 1, 9, 6]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RMQ(1, 3)  →  min(2, 8, 4)  =  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960120"/>
            <a:ext cx="3977640" cy="3840480"/>
          </a:xfrm>
          <a:prstGeom prst="rect">
            <a:avLst/>
          </a:prstGeom>
          <a:solidFill>
            <a:srgbClr val="1A2E45"/>
          </a:solidFill>
          <a:ln w="19050">
            <a:solidFill>
              <a:srgbClr val="0091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109728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
</a:t>
            </a: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aplicaciones del mundo real, los datos no son estáticos.
Se necesitan responder </a:t>
            </a:r>
            <a:r>
              <a:rPr lang="en-US" sz="13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consultas
</a:t>
            </a: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segundo sobre rangos de arreglos.
RMQ es la base matemática para optimizar estas búsquedas a gran escala.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Ingenuo: Fuerza Bruta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22860"/>
          </a:xfrm>
          <a:prstGeom prst="rect">
            <a:avLst/>
          </a:prstGeom>
          <a:solidFill>
            <a:srgbClr val="0091B5"/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ABA"/>
                </a:solidFill>
              </a:rPr>
              <a:t>3 /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2011680"/>
          </a:xfrm>
          <a:prstGeom prst="rect">
            <a:avLst/>
          </a:prstGeom>
          <a:solidFill>
            <a:srgbClr val="0A1520"/>
          </a:solidFill>
          <a:ln w="19050">
            <a:solidFill>
              <a:srgbClr val="009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Algoritmo lineal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rmq_naive(A, L, R) {
</a:t>
            </a: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min = A[L];
</a:t>
            </a:r>
            <a:r>
              <a:rPr lang="en-US" sz="1150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</a:t>
            </a: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i=L; i&lt;=R; i++)
</a:t>
            </a:r>
            <a:r>
              <a:rPr lang="en-US" sz="1150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(A[i] &lt; min)
      min = A[i];
</a:t>
            </a:r>
            <a:r>
              <a:rPr lang="en-US" sz="1150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3200400"/>
            <a:ext cx="1298448" cy="1554480"/>
          </a:xfrm>
          <a:prstGeom prst="rect">
            <a:avLst/>
          </a:prstGeom>
          <a:solidFill>
            <a:srgbClr val="1A2E45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310128"/>
            <a:ext cx="1115568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4055364"/>
            <a:ext cx="111556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Precomputación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46504" y="3200400"/>
            <a:ext cx="1298448" cy="1554480"/>
          </a:xfrm>
          <a:prstGeom prst="rect">
            <a:avLst/>
          </a:prstGeom>
          <a:solidFill>
            <a:srgbClr val="1A2E45"/>
          </a:solidFill>
          <a:ln w="254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37944" y="3310128"/>
            <a:ext cx="1115568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37944" y="4055364"/>
            <a:ext cx="111556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consulta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3200400"/>
            <a:ext cx="1298448" cy="1554480"/>
          </a:xfrm>
          <a:prstGeom prst="rect">
            <a:avLst/>
          </a:prstGeom>
          <a:solidFill>
            <a:srgbClr val="1A2E45"/>
          </a:solidFill>
          <a:ln w="25400">
            <a:solidFill>
              <a:srgbClr val="FF4D6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64408" y="3310128"/>
            <a:ext cx="1115568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O(Q·N)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64408" y="4055364"/>
            <a:ext cx="111556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consultas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60520" cy="3794760"/>
          </a:xfrm>
          <a:prstGeom prst="rect">
            <a:avLst/>
          </a:prstGeom>
          <a:solidFill>
            <a:srgbClr val="1A2E45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157276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 = Q = 1,000,000
</a:t>
            </a: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requieren:
</a:t>
            </a: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10¹² operaciones
Un billón de pasos</a:t>
            </a: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colapsa cualquier sistema convencional.
</a:t>
            </a:r>
            <a:r>
              <a:rPr lang="en-US" sz="13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de implementar, absolutamente inviable a gran escala.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Sparse Table (Ingenio Matemático)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22860"/>
          </a:xfrm>
          <a:prstGeom prst="rect">
            <a:avLst/>
          </a:prstGeom>
          <a:solidFill>
            <a:srgbClr val="0091B5"/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ABA"/>
                </a:solidFill>
              </a:rPr>
              <a:t>4 /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1920240"/>
          </a:xfrm>
          <a:prstGeom prst="rect">
            <a:avLst/>
          </a:prstGeom>
          <a:solidFill>
            <a:srgbClr val="1A2E45"/>
          </a:solidFill>
          <a:ln w="25400">
            <a:solidFill>
              <a:srgbClr val="00C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4114800" cy="384048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0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1: Potencias de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longitud de rango puede descomponerse en potencias de 2.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rango de 6 = 4 + 2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920240"/>
          </a:xfrm>
          <a:prstGeom prst="rect">
            <a:avLst/>
          </a:prstGeom>
          <a:solidFill>
            <a:srgbClr val="1A2E45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4114800" cy="3840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60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2: Idempotencia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81328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clave del operador mínimo: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min(x, x) = x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mínimo repetido no altera el resultado.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0175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solapados cubren cualquier rango: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046720" cy="347472"/>
          </a:xfrm>
          <a:prstGeom prst="rect">
            <a:avLst/>
          </a:prstGeom>
          <a:solidFill>
            <a:srgbClr val="4A6378"/>
          </a:solidFill>
          <a:ln w="12700">
            <a:solidFill>
              <a:srgbClr val="8AAA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74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completo [L, R]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4988966" cy="347472"/>
          </a:xfrm>
          <a:prstGeom prst="rect">
            <a:avLst/>
          </a:prstGeom>
          <a:solidFill>
            <a:srgbClr val="0091B5">
              <a:alpha val="80000"/>
            </a:srgbClr>
          </a:solidFill>
          <a:ln w="19050">
            <a:solidFill>
              <a:srgbClr val="00C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95928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 (tamaño 2ᵏ)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14954" y="4434840"/>
            <a:ext cx="4988966" cy="347472"/>
          </a:xfrm>
          <a:prstGeom prst="rect">
            <a:avLst/>
          </a:prstGeom>
          <a:solidFill>
            <a:srgbClr val="006E8A">
              <a:alpha val="80000"/>
            </a:srgbClr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6394" y="4498848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 (tamaño 2ᵏ)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14954" y="3931920"/>
            <a:ext cx="1931213" cy="347472"/>
          </a:xfrm>
          <a:prstGeom prst="rect">
            <a:avLst/>
          </a:prstGeom>
          <a:solidFill>
            <a:srgbClr val="00E5A0">
              <a:alpha val="4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9377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Solapamiento permitido por idempotencia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Matemático e Implementación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22860"/>
          </a:xfrm>
          <a:prstGeom prst="rect">
            <a:avLst/>
          </a:prstGeom>
          <a:solidFill>
            <a:srgbClr val="0091B5"/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ABA"/>
                </a:solidFill>
              </a:rPr>
              <a:t>5 /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solidFill>
            <a:srgbClr val="1A2E45"/>
          </a:solidFill>
          <a:ln w="25400">
            <a:solidFill>
              <a:srgbClr val="00C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54864" cy="8229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Datos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344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ST[i][j] = mínimo del rango de tamaño 2ʲ desde posición 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8503920" cy="822960"/>
          </a:xfrm>
          <a:prstGeom prst="rect">
            <a:avLst/>
          </a:prstGeom>
          <a:solidFill>
            <a:srgbClr val="1A2E45"/>
          </a:solidFill>
          <a:ln w="25400">
            <a:solidFill>
              <a:srgbClr val="FF9F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65960"/>
            <a:ext cx="54864" cy="8229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11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Transición (DP)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3042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ST[i][j] = min( ST[i][j−1] ,  ST[i + 2ʲ⁻¹][j−1] 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8503920" cy="822960"/>
          </a:xfrm>
          <a:prstGeom prst="rect">
            <a:avLst/>
          </a:prstGeom>
          <a:solidFill>
            <a:srgbClr val="1A2E45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26080"/>
            <a:ext cx="54864" cy="8229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71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en O(1)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264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RMQ(L,R) = min( ST[L][k] ,  ST[R−2ᵏ+1][k] )   k=⌊log₂(R−L+1)⌋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886200"/>
            <a:ext cx="2651760" cy="1005840"/>
          </a:xfrm>
          <a:prstGeom prst="rect">
            <a:avLst/>
          </a:prstGeom>
          <a:solidFill>
            <a:srgbClr val="1A2E45"/>
          </a:solidFill>
          <a:ln w="254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995928"/>
            <a:ext cx="24688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11480" y="4439412"/>
            <a:ext cx="24688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Precomputación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886200"/>
            <a:ext cx="2651760" cy="1005840"/>
          </a:xfrm>
          <a:prstGeom prst="rect">
            <a:avLst/>
          </a:prstGeom>
          <a:solidFill>
            <a:srgbClr val="1A2E45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995928"/>
            <a:ext cx="24688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91840" y="4439412"/>
            <a:ext cx="24688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886200"/>
            <a:ext cx="2651760" cy="1005840"/>
          </a:xfrm>
          <a:prstGeom prst="rect">
            <a:avLst/>
          </a:prstGeom>
          <a:solidFill>
            <a:srgbClr val="1A2E45"/>
          </a:solidFill>
          <a:ln w="25400">
            <a:solidFill>
              <a:srgbClr val="00C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3995928"/>
            <a:ext cx="24688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72200" y="4439412"/>
            <a:ext cx="24688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Empíricos: El Benchmark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22860"/>
          </a:xfrm>
          <a:prstGeom prst="rect">
            <a:avLst/>
          </a:prstGeom>
          <a:solidFill>
            <a:srgbClr val="0091B5"/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ABA"/>
                </a:solidFill>
              </a:rPr>
              <a:t>6 / 8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6012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960120"/>
            <a:ext cx="3246120" cy="3840480"/>
          </a:xfrm>
          <a:prstGeom prst="rect">
            <a:avLst/>
          </a:prstGeom>
          <a:solidFill>
            <a:srgbClr val="1A2E45"/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1024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      Naive          Sparse T.     Speedup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577840" y="1298448"/>
            <a:ext cx="3246120" cy="18288"/>
          </a:xfrm>
          <a:prstGeom prst="rect">
            <a:avLst/>
          </a:prstGeom>
          <a:solidFill>
            <a:srgbClr val="4A6378"/>
          </a:solidFill>
          <a:ln w="12700">
            <a:solidFill>
              <a:srgbClr val="4A63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389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0" y="1682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0.0001s</a:t>
            </a:r>
            <a:r>
              <a:rPr lang="en-US" sz="10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0" y="19659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~1×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577840" y="2304288"/>
            <a:ext cx="3246120" cy="18288"/>
          </a:xfrm>
          <a:prstGeom prst="rect">
            <a:avLst/>
          </a:prstGeom>
          <a:solidFill>
            <a:srgbClr val="4A6378"/>
          </a:solidFill>
          <a:ln w="12700">
            <a:solidFill>
              <a:srgbClr val="4A63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N=10,000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0" y="2761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1.1s</a:t>
            </a:r>
            <a:r>
              <a:rPr lang="en-US" sz="10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0" y="3044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183×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577840" y="3383280"/>
            <a:ext cx="3246120" cy="18288"/>
          </a:xfrm>
          <a:prstGeom prst="rect">
            <a:avLst/>
          </a:prstGeom>
          <a:solidFill>
            <a:srgbClr val="4A6378"/>
          </a:solidFill>
          <a:ln w="12700">
            <a:solidFill>
              <a:srgbClr val="4A63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3547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N=500K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Q=1M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69280" y="3840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 min</a:t>
            </a:r>
            <a:r>
              <a:rPr lang="en-US" sz="10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69280" y="41239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3,743×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Reales en la Industria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22860"/>
          </a:xfrm>
          <a:prstGeom prst="rect">
            <a:avLst/>
          </a:prstGeom>
          <a:solidFill>
            <a:srgbClr val="0091B5"/>
          </a:solidFill>
          <a:ln w="12700">
            <a:solidFill>
              <a:srgbClr val="009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ABA"/>
                </a:solidFill>
              </a:rPr>
              <a:t>7 /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3566160"/>
          </a:xfrm>
          <a:prstGeom prst="rect">
            <a:avLst/>
          </a:prstGeom>
          <a:solidFill>
            <a:srgbClr val="1A2E45"/>
          </a:solidFill>
          <a:ln w="25400">
            <a:solidFill>
              <a:srgbClr val="00C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424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Ancestro Común Más Bajo (LCA)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de grafos y motores jerárquicos (XML / JSON).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árbol en RMQ mediante recorrido de Euler.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3566160"/>
          </a:xfrm>
          <a:prstGeom prst="rect">
            <a:avLst/>
          </a:prstGeom>
          <a:solidFill>
            <a:srgbClr val="1A2E45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0424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Prefijo Común Más Largo (LCP)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176272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Bioinformática: búsqueda ultra-rápida de patrones de ADN sobre arreglos de sufijos.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005840"/>
            <a:ext cx="2743200" cy="3566160"/>
          </a:xfrm>
          <a:prstGeom prst="rect">
            <a:avLst/>
          </a:prstGeom>
          <a:solidFill>
            <a:srgbClr val="1A2E45"/>
          </a:solidFill>
          <a:ln w="25400">
            <a:solidFill>
              <a:srgbClr val="FF9F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005840"/>
            <a:ext cx="2743200" cy="5029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0424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81928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 IP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176272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de prefijos en routers físicos a alta velocidad. Usado en hardware de red de producción.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 hoy en núcleos de bases de datos, secuenciadores de ADN y enrutamiento físico de paquetes de internet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03320" y="0"/>
            <a:ext cx="7315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espacio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cambio de O(1) consulta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 permite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solapar bloques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794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min → 0.82 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3,743×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5029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3,743×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393192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 con Sparse Table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2395728"/>
            <a:ext cx="4480560" cy="22860"/>
          </a:xfrm>
          <a:prstGeom prst="rect">
            <a:avLst/>
          </a:prstGeom>
          <a:solidFill>
            <a:srgbClr val="4A6378"/>
          </a:solidFill>
          <a:ln w="12700">
            <a:solidFill>
              <a:srgbClr val="4A63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5146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Precomputación + Propiedades Algebraicas
</a:t>
            </a:r>
            <a:r>
              <a:rPr lang="en-US" sz="13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Escalabilidad masiva para Big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0" y="3401568"/>
            <a:ext cx="4480560" cy="12344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C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493008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14800" y="41148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github.com/[usuario]/rmq-proyecto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ABA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767</Words>
  <Application>Microsoft Office PowerPoint</Application>
  <PresentationFormat>Presentación en pantalla (16:9)</PresentationFormat>
  <Paragraphs>123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 RMQ: De O(N) a O(1)</dc:title>
  <dc:subject>PptxGenJS Presentation</dc:subject>
  <dc:creator>PptxGenJS</dc:creator>
  <cp:lastModifiedBy>Nicolas Peña</cp:lastModifiedBy>
  <cp:revision>2</cp:revision>
  <dcterms:created xsi:type="dcterms:W3CDTF">2026-06-01T03:11:43Z</dcterms:created>
  <dcterms:modified xsi:type="dcterms:W3CDTF">2026-06-01T04:18:19Z</dcterms:modified>
</cp:coreProperties>
</file>