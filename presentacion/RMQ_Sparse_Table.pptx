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0"/>
            <a:ext cx="731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88720"/>
            <a:ext cx="10789920" cy="1463040"/>
          </a:xfrm>
          <a:prstGeom prst="rect">
            <a:avLst/>
          </a:prstGeom>
          <a:noFill/>
        </p:spPr>
        <p:txBody>
          <a:bodyPr wrap="square">
            <a:spAutoFit/>
          </a:bodyPr>
          <a:lstStyle/>
          <a:p>
            <a:pPr algn="l"/>
            <a:r>
              <a:rPr sz="3800" b="1" i="0">
                <a:solidFill>
                  <a:srgbClr val="FFFFFF"/>
                </a:solidFill>
                <a:latin typeface="Calibri"/>
              </a:rPr>
              <a:t>Optimización de Consultas de Mínimo en Rango (RMQ)</a:t>
            </a:r>
          </a:p>
        </p:txBody>
      </p:sp>
      <p:sp>
        <p:nvSpPr>
          <p:cNvPr id="6" name="TextBox 5"/>
          <p:cNvSpPr txBox="1"/>
          <p:nvPr/>
        </p:nvSpPr>
        <p:spPr>
          <a:xfrm>
            <a:off x="685800" y="2743200"/>
            <a:ext cx="10058400" cy="640080"/>
          </a:xfrm>
          <a:prstGeom prst="rect">
            <a:avLst/>
          </a:prstGeom>
          <a:noFill/>
        </p:spPr>
        <p:txBody>
          <a:bodyPr wrap="square">
            <a:spAutoFit/>
          </a:bodyPr>
          <a:lstStyle/>
          <a:p>
            <a:pPr algn="l"/>
            <a:r>
              <a:rPr sz="2200" b="0" i="1">
                <a:solidFill>
                  <a:srgbClr val="FFC000"/>
                </a:solidFill>
                <a:latin typeface="Calibri"/>
              </a:rPr>
              <a:t>De  O(N)  a  O(1)  —  Escalabilidad Masiva mediante Precomputación</a:t>
            </a:r>
          </a:p>
        </p:txBody>
      </p:sp>
      <p:sp>
        <p:nvSpPr>
          <p:cNvPr id="7" name="Rectangle 6"/>
          <p:cNvSpPr/>
          <p:nvPr/>
        </p:nvSpPr>
        <p:spPr>
          <a:xfrm>
            <a:off x="685800" y="3520440"/>
            <a:ext cx="9601200" cy="54864"/>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03320"/>
            <a:ext cx="9144000" cy="1371600"/>
          </a:xfrm>
          <a:prstGeom prst="rect">
            <a:avLst/>
          </a:prstGeom>
          <a:noFill/>
        </p:spPr>
        <p:txBody>
          <a:bodyPr wrap="square">
            <a:spAutoFit/>
          </a:bodyPr>
          <a:lstStyle/>
          <a:p>
            <a:pPr algn="l"/>
            <a:r>
              <a:rPr sz="1600" b="1" i="0">
                <a:solidFill>
                  <a:srgbClr val="FFFFFF"/>
                </a:solidFill>
                <a:latin typeface="Calibri"/>
              </a:rPr>
              <a:t>Grupo de Investigación Algorítmica</a:t>
            </a:r>
          </a:p>
          <a:p>
            <a:pPr algn="l">
              <a:spcBef>
                <a:spcPts val="400"/>
              </a:spcBef>
            </a:pPr>
            <a:r>
              <a:rPr sz="1400" b="0" i="0">
                <a:solidFill>
                  <a:srgbClr val="BDD7EE"/>
                </a:solidFill>
                <a:latin typeface="Calibri"/>
              </a:rPr>
              <a:t>Ingeniería en Sistemas  ·  Algoritmos y Estructuras de Datos</a:t>
            </a:r>
          </a:p>
          <a:p>
            <a:pPr algn="l">
              <a:spcBef>
                <a:spcPts val="400"/>
              </a:spcBef>
            </a:pPr>
            <a:r>
              <a:rPr sz="1300" b="0" i="0">
                <a:solidFill>
                  <a:srgbClr val="FFC000"/>
                </a:solidFill>
                <a:latin typeface="Calibri"/>
              </a:rPr>
              <a:t>github.com/nicotitopp/trabajoFinal  (rama: dev-nico)</a:t>
            </a:r>
          </a:p>
        </p:txBody>
      </p:sp>
      <p:sp>
        <p:nvSpPr>
          <p:cNvPr id="9" name="Rectangle 8"/>
          <p:cNvSpPr/>
          <p:nvPr/>
        </p:nvSpPr>
        <p:spPr>
          <a:xfrm>
            <a:off x="8686800" y="5303520"/>
            <a:ext cx="3017520" cy="868680"/>
          </a:xfrm>
          <a:prstGeom prst="rect">
            <a:avLst/>
          </a:prstGeom>
          <a:solidFill>
            <a:srgbClr val="2E75B6"/>
          </a:solidFill>
          <a:ln w="190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0" y="5321808"/>
            <a:ext cx="3017520" cy="822960"/>
          </a:xfrm>
          <a:prstGeom prst="rect">
            <a:avLst/>
          </a:prstGeom>
          <a:noFill/>
        </p:spPr>
        <p:txBody>
          <a:bodyPr wrap="square">
            <a:spAutoFit/>
          </a:bodyPr>
          <a:lstStyle/>
          <a:p>
            <a:pPr algn="ctr"/>
            <a:r>
              <a:rPr sz="1300" b="1" i="0">
                <a:solidFill>
                  <a:srgbClr val="FFFFFF"/>
                </a:solidFill>
                <a:latin typeface="Calibri"/>
              </a:rPr>
              <a:t>Sparse Table  ·  O(1) Query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
            <a:ext cx="10972800" cy="777240"/>
          </a:xfrm>
          <a:prstGeom prst="rect">
            <a:avLst/>
          </a:prstGeom>
          <a:noFill/>
        </p:spPr>
        <p:txBody>
          <a:bodyPr wrap="square">
            <a:spAutoFit/>
          </a:bodyPr>
          <a:lstStyle/>
          <a:p>
            <a:pPr algn="l"/>
            <a:r>
              <a:rPr sz="2800" b="1" i="0">
                <a:solidFill>
                  <a:srgbClr val="FFFFFF"/>
                </a:solidFill>
                <a:latin typeface="Calibri"/>
              </a:rPr>
              <a:t>1.  ¿Qué es el Problema RMQ?</a:t>
            </a:r>
          </a:p>
        </p:txBody>
      </p:sp>
      <p:sp>
        <p:nvSpPr>
          <p:cNvPr id="6" name="TextBox 5"/>
          <p:cNvSpPr txBox="1"/>
          <p:nvPr/>
        </p:nvSpPr>
        <p:spPr>
          <a:xfrm>
            <a:off x="10515600" y="228600"/>
            <a:ext cx="1463040" cy="548640"/>
          </a:xfrm>
          <a:prstGeom prst="rect">
            <a:avLst/>
          </a:prstGeom>
          <a:noFill/>
        </p:spPr>
        <p:txBody>
          <a:bodyPr wrap="square">
            <a:spAutoFit/>
          </a:bodyPr>
          <a:lstStyle/>
          <a:p>
            <a:pPr algn="r"/>
            <a:r>
              <a:rPr sz="1300" b="0" i="0">
                <a:solidFill>
                  <a:srgbClr val="FFC000"/>
                </a:solidFill>
                <a:latin typeface="Calibri"/>
              </a:rPr>
              <a:t>02 / 08</a:t>
            </a:r>
          </a:p>
        </p:txBody>
      </p:sp>
      <p:sp>
        <p:nvSpPr>
          <p:cNvPr id="7" name="Rectangle 6"/>
          <p:cNvSpPr/>
          <p:nvPr/>
        </p:nvSpPr>
        <p:spPr>
          <a:xfrm>
            <a:off x="457200" y="1280160"/>
            <a:ext cx="5394960" cy="2286000"/>
          </a:xfrm>
          <a:prstGeom prst="rect">
            <a:avLst/>
          </a:prstGeom>
          <a:solidFill>
            <a:srgbClr val="1F4E79"/>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5029200" cy="2011680"/>
          </a:xfrm>
          <a:prstGeom prst="rect">
            <a:avLst/>
          </a:prstGeom>
          <a:noFill/>
        </p:spPr>
        <p:txBody>
          <a:bodyPr wrap="square">
            <a:spAutoFit/>
          </a:bodyPr>
          <a:lstStyle/>
          <a:p>
            <a:pPr algn="l"/>
            <a:r>
              <a:rPr sz="1700" b="1" i="0">
                <a:solidFill>
                  <a:srgbClr val="FFC000"/>
                </a:solidFill>
                <a:latin typeface="Calibri"/>
              </a:rPr>
              <a:t>Definición Formal</a:t>
            </a:r>
          </a:p>
          <a:p>
            <a:pPr algn="l">
              <a:spcBef>
                <a:spcPts val="600"/>
              </a:spcBef>
            </a:pPr>
            <a:r>
              <a:rPr sz="1400" b="0" i="0">
                <a:solidFill>
                  <a:srgbClr val="FFFFFF"/>
                </a:solidFill>
                <a:latin typeface="Calibri"/>
              </a:rPr>
              <a:t>Dado un arreglo A de N elementos y un par</a:t>
            </a:r>
          </a:p>
          <a:p>
            <a:pPr algn="l"/>
            <a:r>
              <a:rPr sz="1400" b="0" i="0">
                <a:solidFill>
                  <a:srgbClr val="FFFFFF"/>
                </a:solidFill>
                <a:latin typeface="Calibri"/>
              </a:rPr>
              <a:t>de índices (L, R) tal que 0 ≤ L ≤ R &lt; N,</a:t>
            </a:r>
          </a:p>
          <a:p>
            <a:pPr algn="l"/>
            <a:r>
              <a:rPr sz="1400" b="0" i="0">
                <a:solidFill>
                  <a:srgbClr val="FFFFFF"/>
                </a:solidFill>
                <a:latin typeface="Calibri"/>
              </a:rPr>
              <a:t>se desea determinar:</a:t>
            </a:r>
          </a:p>
          <a:p>
            <a:pPr algn="l">
              <a:spcBef>
                <a:spcPts val="800"/>
              </a:spcBef>
            </a:pPr>
            <a:r>
              <a:rPr sz="1900" b="1" i="0">
                <a:solidFill>
                  <a:srgbClr val="FFC000"/>
                </a:solidFill>
                <a:latin typeface="Calibri"/>
              </a:rPr>
              <a:t>RMQ(L, R) = min  A[i]</a:t>
            </a:r>
          </a:p>
          <a:p>
            <a:pPr algn="l"/>
            <a:r>
              <a:rPr sz="1300" b="0" i="0">
                <a:solidFill>
                  <a:srgbClr val="BDD7EE"/>
                </a:solidFill>
                <a:latin typeface="Calibri"/>
              </a:rPr>
              <a:t>               L ≤ i ≤ R</a:t>
            </a:r>
          </a:p>
        </p:txBody>
      </p:sp>
      <p:sp>
        <p:nvSpPr>
          <p:cNvPr id="9" name="Rectangle 8"/>
          <p:cNvSpPr/>
          <p:nvPr/>
        </p:nvSpPr>
        <p:spPr>
          <a:xfrm>
            <a:off x="6126480" y="1280160"/>
            <a:ext cx="5577840" cy="2286000"/>
          </a:xfrm>
          <a:prstGeom prst="rect">
            <a:avLst/>
          </a:prstGeom>
          <a:solidFill>
            <a:srgbClr val="FFFFFF"/>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371600"/>
            <a:ext cx="5303520" cy="457200"/>
          </a:xfrm>
          <a:prstGeom prst="rect">
            <a:avLst/>
          </a:prstGeom>
          <a:noFill/>
        </p:spPr>
        <p:txBody>
          <a:bodyPr wrap="square">
            <a:spAutoFit/>
          </a:bodyPr>
          <a:lstStyle/>
          <a:p>
            <a:pPr algn="l"/>
            <a:r>
              <a:rPr sz="1600" b="1" i="0">
                <a:solidFill>
                  <a:srgbClr val="1F4E79"/>
                </a:solidFill>
                <a:latin typeface="Calibri"/>
              </a:rPr>
              <a:t>Ejemplo Visual</a:t>
            </a:r>
          </a:p>
        </p:txBody>
      </p:sp>
      <p:sp>
        <p:nvSpPr>
          <p:cNvPr id="11" name="Rectangle 10"/>
          <p:cNvSpPr/>
          <p:nvPr/>
        </p:nvSpPr>
        <p:spPr>
          <a:xfrm>
            <a:off x="6400800" y="1965960"/>
            <a:ext cx="566928" cy="566928"/>
          </a:xfrm>
          <a:prstGeom prst="rect">
            <a:avLst/>
          </a:prstGeom>
          <a:solidFill>
            <a:srgbClr val="E8F0F8"/>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965960"/>
            <a:ext cx="566928" cy="566928"/>
          </a:xfrm>
          <a:prstGeom prst="rect">
            <a:avLst/>
          </a:prstGeom>
          <a:noFill/>
        </p:spPr>
        <p:txBody>
          <a:bodyPr wrap="square">
            <a:spAutoFit/>
          </a:bodyPr>
          <a:lstStyle/>
          <a:p>
            <a:pPr algn="ctr"/>
            <a:r>
              <a:rPr sz="1700" b="0" i="0">
                <a:solidFill>
                  <a:srgbClr val="1F4E79"/>
                </a:solidFill>
                <a:latin typeface="Calibri"/>
              </a:rPr>
              <a:t>7</a:t>
            </a:r>
          </a:p>
        </p:txBody>
      </p:sp>
      <p:sp>
        <p:nvSpPr>
          <p:cNvPr id="13" name="TextBox 12"/>
          <p:cNvSpPr txBox="1"/>
          <p:nvPr/>
        </p:nvSpPr>
        <p:spPr>
          <a:xfrm>
            <a:off x="6400800" y="2560320"/>
            <a:ext cx="566928" cy="274320"/>
          </a:xfrm>
          <a:prstGeom prst="rect">
            <a:avLst/>
          </a:prstGeom>
          <a:noFill/>
        </p:spPr>
        <p:txBody>
          <a:bodyPr wrap="square">
            <a:spAutoFit/>
          </a:bodyPr>
          <a:lstStyle/>
          <a:p>
            <a:pPr algn="ctr"/>
            <a:r>
              <a:rPr sz="1000" b="0" i="0">
                <a:solidFill>
                  <a:srgbClr val="606060"/>
                </a:solidFill>
                <a:latin typeface="Calibri"/>
              </a:rPr>
              <a:t>0</a:t>
            </a:r>
          </a:p>
        </p:txBody>
      </p:sp>
      <p:sp>
        <p:nvSpPr>
          <p:cNvPr id="14" name="Rectangle 13"/>
          <p:cNvSpPr/>
          <p:nvPr/>
        </p:nvSpPr>
        <p:spPr>
          <a:xfrm>
            <a:off x="7086600" y="1965960"/>
            <a:ext cx="566928" cy="566928"/>
          </a:xfrm>
          <a:prstGeom prst="rect">
            <a:avLst/>
          </a:prstGeom>
          <a:solidFill>
            <a:srgbClr val="2E75B6"/>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1965960"/>
            <a:ext cx="566928" cy="566928"/>
          </a:xfrm>
          <a:prstGeom prst="rect">
            <a:avLst/>
          </a:prstGeom>
          <a:noFill/>
        </p:spPr>
        <p:txBody>
          <a:bodyPr wrap="square">
            <a:spAutoFit/>
          </a:bodyPr>
          <a:lstStyle/>
          <a:p>
            <a:pPr algn="ctr"/>
            <a:r>
              <a:rPr sz="1700" b="1" i="0">
                <a:solidFill>
                  <a:srgbClr val="FFFFFF"/>
                </a:solidFill>
                <a:latin typeface="Calibri"/>
              </a:rPr>
              <a:t>2</a:t>
            </a:r>
          </a:p>
        </p:txBody>
      </p:sp>
      <p:sp>
        <p:nvSpPr>
          <p:cNvPr id="16" name="TextBox 15"/>
          <p:cNvSpPr txBox="1"/>
          <p:nvPr/>
        </p:nvSpPr>
        <p:spPr>
          <a:xfrm>
            <a:off x="7086600" y="2560320"/>
            <a:ext cx="566928" cy="274320"/>
          </a:xfrm>
          <a:prstGeom prst="rect">
            <a:avLst/>
          </a:prstGeom>
          <a:noFill/>
        </p:spPr>
        <p:txBody>
          <a:bodyPr wrap="square">
            <a:spAutoFit/>
          </a:bodyPr>
          <a:lstStyle/>
          <a:p>
            <a:pPr algn="ctr"/>
            <a:r>
              <a:rPr sz="1000" b="0" i="0">
                <a:solidFill>
                  <a:srgbClr val="606060"/>
                </a:solidFill>
                <a:latin typeface="Calibri"/>
              </a:rPr>
              <a:t>1</a:t>
            </a:r>
          </a:p>
        </p:txBody>
      </p:sp>
      <p:sp>
        <p:nvSpPr>
          <p:cNvPr id="17" name="Rectangle 16"/>
          <p:cNvSpPr/>
          <p:nvPr/>
        </p:nvSpPr>
        <p:spPr>
          <a:xfrm>
            <a:off x="7772400" y="1965960"/>
            <a:ext cx="566928" cy="566928"/>
          </a:xfrm>
          <a:prstGeom prst="rect">
            <a:avLst/>
          </a:prstGeom>
          <a:solidFill>
            <a:srgbClr val="2E75B6"/>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965960"/>
            <a:ext cx="566928" cy="566928"/>
          </a:xfrm>
          <a:prstGeom prst="rect">
            <a:avLst/>
          </a:prstGeom>
          <a:noFill/>
        </p:spPr>
        <p:txBody>
          <a:bodyPr wrap="square">
            <a:spAutoFit/>
          </a:bodyPr>
          <a:lstStyle/>
          <a:p>
            <a:pPr algn="ctr"/>
            <a:r>
              <a:rPr sz="1700" b="0" i="0">
                <a:solidFill>
                  <a:srgbClr val="FFFFFF"/>
                </a:solidFill>
                <a:latin typeface="Calibri"/>
              </a:rPr>
              <a:t>8</a:t>
            </a:r>
          </a:p>
        </p:txBody>
      </p:sp>
      <p:sp>
        <p:nvSpPr>
          <p:cNvPr id="19" name="TextBox 18"/>
          <p:cNvSpPr txBox="1"/>
          <p:nvPr/>
        </p:nvSpPr>
        <p:spPr>
          <a:xfrm>
            <a:off x="7772400" y="2560320"/>
            <a:ext cx="566928" cy="274320"/>
          </a:xfrm>
          <a:prstGeom prst="rect">
            <a:avLst/>
          </a:prstGeom>
          <a:noFill/>
        </p:spPr>
        <p:txBody>
          <a:bodyPr wrap="square">
            <a:spAutoFit/>
          </a:bodyPr>
          <a:lstStyle/>
          <a:p>
            <a:pPr algn="ctr"/>
            <a:r>
              <a:rPr sz="1000" b="0" i="0">
                <a:solidFill>
                  <a:srgbClr val="606060"/>
                </a:solidFill>
                <a:latin typeface="Calibri"/>
              </a:rPr>
              <a:t>2</a:t>
            </a:r>
          </a:p>
        </p:txBody>
      </p:sp>
      <p:sp>
        <p:nvSpPr>
          <p:cNvPr id="20" name="Rectangle 19"/>
          <p:cNvSpPr/>
          <p:nvPr/>
        </p:nvSpPr>
        <p:spPr>
          <a:xfrm>
            <a:off x="8458200" y="1965960"/>
            <a:ext cx="566928" cy="566928"/>
          </a:xfrm>
          <a:prstGeom prst="rect">
            <a:avLst/>
          </a:prstGeom>
          <a:solidFill>
            <a:srgbClr val="2E75B6"/>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1965960"/>
            <a:ext cx="566928" cy="566928"/>
          </a:xfrm>
          <a:prstGeom prst="rect">
            <a:avLst/>
          </a:prstGeom>
          <a:noFill/>
        </p:spPr>
        <p:txBody>
          <a:bodyPr wrap="square">
            <a:spAutoFit/>
          </a:bodyPr>
          <a:lstStyle/>
          <a:p>
            <a:pPr algn="ctr"/>
            <a:r>
              <a:rPr sz="1700" b="0" i="0">
                <a:solidFill>
                  <a:srgbClr val="FFFFFF"/>
                </a:solidFill>
                <a:latin typeface="Calibri"/>
              </a:rPr>
              <a:t>4</a:t>
            </a:r>
          </a:p>
        </p:txBody>
      </p:sp>
      <p:sp>
        <p:nvSpPr>
          <p:cNvPr id="22" name="TextBox 21"/>
          <p:cNvSpPr txBox="1"/>
          <p:nvPr/>
        </p:nvSpPr>
        <p:spPr>
          <a:xfrm>
            <a:off x="8458200" y="2560320"/>
            <a:ext cx="566928" cy="274320"/>
          </a:xfrm>
          <a:prstGeom prst="rect">
            <a:avLst/>
          </a:prstGeom>
          <a:noFill/>
        </p:spPr>
        <p:txBody>
          <a:bodyPr wrap="square">
            <a:spAutoFit/>
          </a:bodyPr>
          <a:lstStyle/>
          <a:p>
            <a:pPr algn="ctr"/>
            <a:r>
              <a:rPr sz="1000" b="0" i="0">
                <a:solidFill>
                  <a:srgbClr val="606060"/>
                </a:solidFill>
                <a:latin typeface="Calibri"/>
              </a:rPr>
              <a:t>3</a:t>
            </a:r>
          </a:p>
        </p:txBody>
      </p:sp>
      <p:sp>
        <p:nvSpPr>
          <p:cNvPr id="23" name="Rectangle 22"/>
          <p:cNvSpPr/>
          <p:nvPr/>
        </p:nvSpPr>
        <p:spPr>
          <a:xfrm>
            <a:off x="9144000" y="1965960"/>
            <a:ext cx="566928" cy="566928"/>
          </a:xfrm>
          <a:prstGeom prst="rect">
            <a:avLst/>
          </a:prstGeom>
          <a:solidFill>
            <a:srgbClr val="E8F0F8"/>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965960"/>
            <a:ext cx="566928" cy="566928"/>
          </a:xfrm>
          <a:prstGeom prst="rect">
            <a:avLst/>
          </a:prstGeom>
          <a:noFill/>
        </p:spPr>
        <p:txBody>
          <a:bodyPr wrap="square">
            <a:spAutoFit/>
          </a:bodyPr>
          <a:lstStyle/>
          <a:p>
            <a:pPr algn="ctr"/>
            <a:r>
              <a:rPr sz="1700" b="0" i="0">
                <a:solidFill>
                  <a:srgbClr val="1F4E79"/>
                </a:solidFill>
                <a:latin typeface="Calibri"/>
              </a:rPr>
              <a:t>1</a:t>
            </a:r>
          </a:p>
        </p:txBody>
      </p:sp>
      <p:sp>
        <p:nvSpPr>
          <p:cNvPr id="25" name="TextBox 24"/>
          <p:cNvSpPr txBox="1"/>
          <p:nvPr/>
        </p:nvSpPr>
        <p:spPr>
          <a:xfrm>
            <a:off x="9144000" y="2560320"/>
            <a:ext cx="566928" cy="274320"/>
          </a:xfrm>
          <a:prstGeom prst="rect">
            <a:avLst/>
          </a:prstGeom>
          <a:noFill/>
        </p:spPr>
        <p:txBody>
          <a:bodyPr wrap="square">
            <a:spAutoFit/>
          </a:bodyPr>
          <a:lstStyle/>
          <a:p>
            <a:pPr algn="ctr"/>
            <a:r>
              <a:rPr sz="1000" b="0" i="0">
                <a:solidFill>
                  <a:srgbClr val="606060"/>
                </a:solidFill>
                <a:latin typeface="Calibri"/>
              </a:rPr>
              <a:t>4</a:t>
            </a:r>
          </a:p>
        </p:txBody>
      </p:sp>
      <p:sp>
        <p:nvSpPr>
          <p:cNvPr id="26" name="Rectangle 25"/>
          <p:cNvSpPr/>
          <p:nvPr/>
        </p:nvSpPr>
        <p:spPr>
          <a:xfrm>
            <a:off x="9829800" y="1965960"/>
            <a:ext cx="566928" cy="566928"/>
          </a:xfrm>
          <a:prstGeom prst="rect">
            <a:avLst/>
          </a:prstGeom>
          <a:solidFill>
            <a:srgbClr val="E8F0F8"/>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9800" y="1965960"/>
            <a:ext cx="566928" cy="566928"/>
          </a:xfrm>
          <a:prstGeom prst="rect">
            <a:avLst/>
          </a:prstGeom>
          <a:noFill/>
        </p:spPr>
        <p:txBody>
          <a:bodyPr wrap="square">
            <a:spAutoFit/>
          </a:bodyPr>
          <a:lstStyle/>
          <a:p>
            <a:pPr algn="ctr"/>
            <a:r>
              <a:rPr sz="1700" b="0" i="0">
                <a:solidFill>
                  <a:srgbClr val="1F4E79"/>
                </a:solidFill>
                <a:latin typeface="Calibri"/>
              </a:rPr>
              <a:t>9</a:t>
            </a:r>
          </a:p>
        </p:txBody>
      </p:sp>
      <p:sp>
        <p:nvSpPr>
          <p:cNvPr id="28" name="TextBox 27"/>
          <p:cNvSpPr txBox="1"/>
          <p:nvPr/>
        </p:nvSpPr>
        <p:spPr>
          <a:xfrm>
            <a:off x="9829800" y="2560320"/>
            <a:ext cx="566928" cy="274320"/>
          </a:xfrm>
          <a:prstGeom prst="rect">
            <a:avLst/>
          </a:prstGeom>
          <a:noFill/>
        </p:spPr>
        <p:txBody>
          <a:bodyPr wrap="square">
            <a:spAutoFit/>
          </a:bodyPr>
          <a:lstStyle/>
          <a:p>
            <a:pPr algn="ctr"/>
            <a:r>
              <a:rPr sz="1000" b="0" i="0">
                <a:solidFill>
                  <a:srgbClr val="606060"/>
                </a:solidFill>
                <a:latin typeface="Calibri"/>
              </a:rPr>
              <a:t>5</a:t>
            </a:r>
          </a:p>
        </p:txBody>
      </p:sp>
      <p:sp>
        <p:nvSpPr>
          <p:cNvPr id="29" name="Rectangle 28"/>
          <p:cNvSpPr/>
          <p:nvPr/>
        </p:nvSpPr>
        <p:spPr>
          <a:xfrm>
            <a:off x="10515600" y="1965960"/>
            <a:ext cx="566928" cy="566928"/>
          </a:xfrm>
          <a:prstGeom prst="rect">
            <a:avLst/>
          </a:prstGeom>
          <a:solidFill>
            <a:srgbClr val="E8F0F8"/>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0" y="1965960"/>
            <a:ext cx="566928" cy="566928"/>
          </a:xfrm>
          <a:prstGeom prst="rect">
            <a:avLst/>
          </a:prstGeom>
          <a:noFill/>
        </p:spPr>
        <p:txBody>
          <a:bodyPr wrap="square">
            <a:spAutoFit/>
          </a:bodyPr>
          <a:lstStyle/>
          <a:p>
            <a:pPr algn="ctr"/>
            <a:r>
              <a:rPr sz="1700" b="0" i="0">
                <a:solidFill>
                  <a:srgbClr val="1F4E79"/>
                </a:solidFill>
                <a:latin typeface="Calibri"/>
              </a:rPr>
              <a:t>6</a:t>
            </a:r>
          </a:p>
        </p:txBody>
      </p:sp>
      <p:sp>
        <p:nvSpPr>
          <p:cNvPr id="31" name="TextBox 30"/>
          <p:cNvSpPr txBox="1"/>
          <p:nvPr/>
        </p:nvSpPr>
        <p:spPr>
          <a:xfrm>
            <a:off x="10515600" y="2560320"/>
            <a:ext cx="566928" cy="274320"/>
          </a:xfrm>
          <a:prstGeom prst="rect">
            <a:avLst/>
          </a:prstGeom>
          <a:noFill/>
        </p:spPr>
        <p:txBody>
          <a:bodyPr wrap="square">
            <a:spAutoFit/>
          </a:bodyPr>
          <a:lstStyle/>
          <a:p>
            <a:pPr algn="ctr"/>
            <a:r>
              <a:rPr sz="1000" b="0" i="0">
                <a:solidFill>
                  <a:srgbClr val="606060"/>
                </a:solidFill>
                <a:latin typeface="Calibri"/>
              </a:rPr>
              <a:t>6</a:t>
            </a:r>
          </a:p>
        </p:txBody>
      </p:sp>
      <p:sp>
        <p:nvSpPr>
          <p:cNvPr id="32" name="TextBox 31"/>
          <p:cNvSpPr txBox="1"/>
          <p:nvPr/>
        </p:nvSpPr>
        <p:spPr>
          <a:xfrm>
            <a:off x="6309360" y="2971800"/>
            <a:ext cx="5303520" cy="457200"/>
          </a:xfrm>
          <a:prstGeom prst="rect">
            <a:avLst/>
          </a:prstGeom>
          <a:noFill/>
        </p:spPr>
        <p:txBody>
          <a:bodyPr wrap="square">
            <a:spAutoFit/>
          </a:bodyPr>
          <a:lstStyle/>
          <a:p>
            <a:pPr algn="l"/>
            <a:r>
              <a:rPr sz="1400" b="1" i="0">
                <a:solidFill>
                  <a:srgbClr val="378636"/>
                </a:solidFill>
                <a:latin typeface="Calibri"/>
              </a:rPr>
              <a:t>Consulta RMQ(1, 3)  →  mín(2, 8, 4)  =  2  ✓</a:t>
            </a:r>
          </a:p>
        </p:txBody>
      </p:sp>
      <p:sp>
        <p:nvSpPr>
          <p:cNvPr id="33" name="Rectangle 32"/>
          <p:cNvSpPr/>
          <p:nvPr/>
        </p:nvSpPr>
        <p:spPr>
          <a:xfrm>
            <a:off x="457200" y="3749039"/>
            <a:ext cx="11247120" cy="2651760"/>
          </a:xfrm>
          <a:prstGeom prst="rect">
            <a:avLst/>
          </a:prstGeom>
          <a:solidFill>
            <a:srgbClr val="E8F0F8"/>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3840480"/>
            <a:ext cx="10515600" cy="457200"/>
          </a:xfrm>
          <a:prstGeom prst="rect">
            <a:avLst/>
          </a:prstGeom>
          <a:noFill/>
        </p:spPr>
        <p:txBody>
          <a:bodyPr wrap="square">
            <a:spAutoFit/>
          </a:bodyPr>
          <a:lstStyle/>
          <a:p>
            <a:pPr algn="l"/>
            <a:r>
              <a:rPr sz="1600" b="1" i="0">
                <a:solidFill>
                  <a:srgbClr val="1F4E79"/>
                </a:solidFill>
                <a:latin typeface="Calibri"/>
              </a:rPr>
              <a:t>⚠  El reto a escala masiva</a:t>
            </a:r>
          </a:p>
        </p:txBody>
      </p:sp>
      <p:sp>
        <p:nvSpPr>
          <p:cNvPr id="35" name="TextBox 34"/>
          <p:cNvSpPr txBox="1"/>
          <p:nvPr/>
        </p:nvSpPr>
        <p:spPr>
          <a:xfrm>
            <a:off x="640080" y="4343400"/>
            <a:ext cx="10972800" cy="1828800"/>
          </a:xfrm>
          <a:prstGeom prst="rect">
            <a:avLst/>
          </a:prstGeom>
          <a:noFill/>
        </p:spPr>
        <p:txBody>
          <a:bodyPr wrap="square">
            <a:spAutoFit/>
          </a:bodyPr>
          <a:lstStyle/>
          <a:p>
            <a:pPr algn="l"/>
            <a:r>
              <a:rPr sz="1400" b="0" i="0">
                <a:solidFill>
                  <a:srgbClr val="262626"/>
                </a:solidFill>
                <a:latin typeface="Calibri"/>
              </a:rPr>
              <a:t>Si un sistema realiza Q = 1,000,000 consultas sobre un arreglo de N = 1,000,000 elementos,</a:t>
            </a:r>
          </a:p>
          <a:p>
            <a:pPr algn="l">
              <a:spcBef>
                <a:spcPts val="400"/>
              </a:spcBef>
            </a:pPr>
            <a:r>
              <a:rPr sz="1400" b="1" i="0">
                <a:solidFill>
                  <a:srgbClr val="C0392B"/>
                </a:solidFill>
                <a:latin typeface="Calibri"/>
              </a:rPr>
              <a:t>el costo total lineal escala a  O(Q · N) = O(10¹²)  operaciones.</a:t>
            </a:r>
          </a:p>
          <a:p>
            <a:pPr algn="l">
              <a:spcBef>
                <a:spcPts val="400"/>
              </a:spcBef>
            </a:pPr>
            <a:r>
              <a:rPr sz="1300" b="0" i="0">
                <a:solidFill>
                  <a:srgbClr val="606060"/>
                </a:solidFill>
                <a:latin typeface="Calibri"/>
              </a:rPr>
              <a:t>Esto equivale a horas de procesamiento. La escalabilidad colapsa.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
            <a:ext cx="10972800" cy="777240"/>
          </a:xfrm>
          <a:prstGeom prst="rect">
            <a:avLst/>
          </a:prstGeom>
          <a:noFill/>
        </p:spPr>
        <p:txBody>
          <a:bodyPr wrap="square">
            <a:spAutoFit/>
          </a:bodyPr>
          <a:lstStyle/>
          <a:p>
            <a:pPr algn="l"/>
            <a:r>
              <a:rPr sz="2800" b="1" i="0">
                <a:solidFill>
                  <a:srgbClr val="FFFFFF"/>
                </a:solidFill>
                <a:latin typeface="Calibri"/>
              </a:rPr>
              <a:t>2.  Algoritmo Ingenuo  —  Fuerza Bruta</a:t>
            </a:r>
          </a:p>
        </p:txBody>
      </p:sp>
      <p:sp>
        <p:nvSpPr>
          <p:cNvPr id="6" name="TextBox 5"/>
          <p:cNvSpPr txBox="1"/>
          <p:nvPr/>
        </p:nvSpPr>
        <p:spPr>
          <a:xfrm>
            <a:off x="10515600" y="228600"/>
            <a:ext cx="1463040" cy="548640"/>
          </a:xfrm>
          <a:prstGeom prst="rect">
            <a:avLst/>
          </a:prstGeom>
          <a:noFill/>
        </p:spPr>
        <p:txBody>
          <a:bodyPr wrap="square">
            <a:spAutoFit/>
          </a:bodyPr>
          <a:lstStyle/>
          <a:p>
            <a:pPr algn="r"/>
            <a:r>
              <a:rPr sz="1300" b="0" i="0">
                <a:solidFill>
                  <a:srgbClr val="FFC000"/>
                </a:solidFill>
                <a:latin typeface="Calibri"/>
              </a:rPr>
              <a:t>03 / 08</a:t>
            </a:r>
          </a:p>
        </p:txBody>
      </p:sp>
      <p:sp>
        <p:nvSpPr>
          <p:cNvPr id="7" name="Rectangle 6"/>
          <p:cNvSpPr/>
          <p:nvPr/>
        </p:nvSpPr>
        <p:spPr>
          <a:xfrm>
            <a:off x="457200" y="1234440"/>
            <a:ext cx="5303520" cy="3657600"/>
          </a:xfrm>
          <a:prstGeom prst="rect">
            <a:avLst/>
          </a:prstGeom>
          <a:solidFill>
            <a:srgbClr val="1A1A2E"/>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25880"/>
            <a:ext cx="4937760" cy="411480"/>
          </a:xfrm>
          <a:prstGeom prst="rect">
            <a:avLst/>
          </a:prstGeom>
          <a:noFill/>
        </p:spPr>
        <p:txBody>
          <a:bodyPr wrap="square">
            <a:spAutoFit/>
          </a:bodyPr>
          <a:lstStyle/>
          <a:p>
            <a:pPr algn="l"/>
            <a:r>
              <a:rPr sz="1400" b="1" i="0">
                <a:solidFill>
                  <a:srgbClr val="FFC000"/>
                </a:solidFill>
                <a:latin typeface="Calibri"/>
              </a:rPr>
              <a:t>Pseudocódigo</a:t>
            </a:r>
          </a:p>
        </p:txBody>
      </p:sp>
      <p:sp>
        <p:nvSpPr>
          <p:cNvPr id="9" name="TextBox 8"/>
          <p:cNvSpPr txBox="1"/>
          <p:nvPr/>
        </p:nvSpPr>
        <p:spPr>
          <a:xfrm>
            <a:off x="594360" y="1783080"/>
            <a:ext cx="5120640" cy="2743200"/>
          </a:xfrm>
          <a:prstGeom prst="rect">
            <a:avLst/>
          </a:prstGeom>
          <a:noFill/>
        </p:spPr>
        <p:txBody>
          <a:bodyPr wrap="square">
            <a:spAutoFit/>
          </a:bodyPr>
          <a:lstStyle/>
          <a:p>
            <a:pPr algn="l"/>
            <a:r>
              <a:rPr sz="1450" b="0" i="0">
                <a:solidFill>
                  <a:srgbClr val="A8D8FF"/>
                </a:solidFill>
                <a:latin typeface="Consolas"/>
              </a:rPr>
              <a:t>función  NaiveRMQ(A, L, R):
   min_val ← A[L]
   para i desde L+1 hasta R:
      si A[i] &lt; min_val:
         min_val ← A[i]
   retornar  min_val</a:t>
            </a:r>
          </a:p>
        </p:txBody>
      </p:sp>
      <p:sp>
        <p:nvSpPr>
          <p:cNvPr id="10" name="Rectangle 9"/>
          <p:cNvSpPr/>
          <p:nvPr/>
        </p:nvSpPr>
        <p:spPr>
          <a:xfrm>
            <a:off x="6035040" y="1234440"/>
            <a:ext cx="5669280" cy="3657600"/>
          </a:xfrm>
          <a:prstGeom prst="rect">
            <a:avLst/>
          </a:prstGeom>
          <a:solidFill>
            <a:srgbClr val="FFFF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325880"/>
            <a:ext cx="5303520" cy="411480"/>
          </a:xfrm>
          <a:prstGeom prst="rect">
            <a:avLst/>
          </a:prstGeom>
          <a:noFill/>
        </p:spPr>
        <p:txBody>
          <a:bodyPr wrap="square">
            <a:spAutoFit/>
          </a:bodyPr>
          <a:lstStyle/>
          <a:p>
            <a:pPr algn="l"/>
            <a:r>
              <a:rPr sz="1600" b="1" i="0">
                <a:solidFill>
                  <a:srgbClr val="1F4E79"/>
                </a:solidFill>
                <a:latin typeface="Calibri"/>
              </a:rPr>
              <a:t>Análisis de Complejidad</a:t>
            </a:r>
          </a:p>
        </p:txBody>
      </p:sp>
      <p:sp>
        <p:nvSpPr>
          <p:cNvPr id="12" name="Rectangle 11"/>
          <p:cNvSpPr/>
          <p:nvPr/>
        </p:nvSpPr>
        <p:spPr>
          <a:xfrm>
            <a:off x="6217920" y="1874519"/>
            <a:ext cx="5303520" cy="822960"/>
          </a:xfrm>
          <a:prstGeom prst="rect">
            <a:avLst/>
          </a:prstGeom>
          <a:solidFill>
            <a:srgbClr val="F8F9FA"/>
          </a:solidFill>
          <a:ln w="25400">
            <a:solidFill>
              <a:srgbClr val="3786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911095"/>
            <a:ext cx="1828800" cy="365760"/>
          </a:xfrm>
          <a:prstGeom prst="rect">
            <a:avLst/>
          </a:prstGeom>
          <a:noFill/>
        </p:spPr>
        <p:txBody>
          <a:bodyPr wrap="square">
            <a:spAutoFit/>
          </a:bodyPr>
          <a:lstStyle/>
          <a:p>
            <a:pPr algn="l"/>
            <a:r>
              <a:rPr sz="1300" b="1" i="0">
                <a:solidFill>
                  <a:srgbClr val="1F4E79"/>
                </a:solidFill>
                <a:latin typeface="Calibri"/>
              </a:rPr>
              <a:t>Precomputación:</a:t>
            </a:r>
          </a:p>
        </p:txBody>
      </p:sp>
      <p:sp>
        <p:nvSpPr>
          <p:cNvPr id="14" name="TextBox 13"/>
          <p:cNvSpPr txBox="1"/>
          <p:nvPr/>
        </p:nvSpPr>
        <p:spPr>
          <a:xfrm>
            <a:off x="8229600" y="1892807"/>
            <a:ext cx="1463040" cy="411480"/>
          </a:xfrm>
          <a:prstGeom prst="rect">
            <a:avLst/>
          </a:prstGeom>
          <a:noFill/>
        </p:spPr>
        <p:txBody>
          <a:bodyPr wrap="square">
            <a:spAutoFit/>
          </a:bodyPr>
          <a:lstStyle/>
          <a:p>
            <a:pPr algn="ctr"/>
            <a:r>
              <a:rPr sz="1800" b="1" i="0">
                <a:solidFill>
                  <a:srgbClr val="378636"/>
                </a:solidFill>
                <a:latin typeface="Calibri"/>
              </a:rPr>
              <a:t>O(1)</a:t>
            </a:r>
          </a:p>
        </p:txBody>
      </p:sp>
      <p:sp>
        <p:nvSpPr>
          <p:cNvPr id="15" name="TextBox 14"/>
          <p:cNvSpPr txBox="1"/>
          <p:nvPr/>
        </p:nvSpPr>
        <p:spPr>
          <a:xfrm>
            <a:off x="6355080" y="2313432"/>
            <a:ext cx="5029200" cy="347472"/>
          </a:xfrm>
          <a:prstGeom prst="rect">
            <a:avLst/>
          </a:prstGeom>
          <a:noFill/>
        </p:spPr>
        <p:txBody>
          <a:bodyPr wrap="square">
            <a:spAutoFit/>
          </a:bodyPr>
          <a:lstStyle/>
          <a:p>
            <a:pPr algn="l"/>
            <a:r>
              <a:rPr sz="1150" b="0" i="0">
                <a:solidFill>
                  <a:srgbClr val="606060"/>
                </a:solidFill>
                <a:latin typeface="Calibri"/>
              </a:rPr>
              <a:t>No hace nada — almacena el arreglo.</a:t>
            </a:r>
          </a:p>
        </p:txBody>
      </p:sp>
      <p:sp>
        <p:nvSpPr>
          <p:cNvPr id="16" name="Rectangle 15"/>
          <p:cNvSpPr/>
          <p:nvPr/>
        </p:nvSpPr>
        <p:spPr>
          <a:xfrm>
            <a:off x="6217920" y="2834639"/>
            <a:ext cx="5303520" cy="822960"/>
          </a:xfrm>
          <a:prstGeom prst="rect">
            <a:avLst/>
          </a:prstGeom>
          <a:solidFill>
            <a:srgbClr val="F8F9FA"/>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871215"/>
            <a:ext cx="1828800" cy="365760"/>
          </a:xfrm>
          <a:prstGeom prst="rect">
            <a:avLst/>
          </a:prstGeom>
          <a:noFill/>
        </p:spPr>
        <p:txBody>
          <a:bodyPr wrap="square">
            <a:spAutoFit/>
          </a:bodyPr>
          <a:lstStyle/>
          <a:p>
            <a:pPr algn="l"/>
            <a:r>
              <a:rPr sz="1300" b="1" i="0">
                <a:solidFill>
                  <a:srgbClr val="1F4E79"/>
                </a:solidFill>
                <a:latin typeface="Calibri"/>
              </a:rPr>
              <a:t>Por consulta:</a:t>
            </a:r>
          </a:p>
        </p:txBody>
      </p:sp>
      <p:sp>
        <p:nvSpPr>
          <p:cNvPr id="18" name="TextBox 17"/>
          <p:cNvSpPr txBox="1"/>
          <p:nvPr/>
        </p:nvSpPr>
        <p:spPr>
          <a:xfrm>
            <a:off x="8229600" y="2852927"/>
            <a:ext cx="1463040" cy="411480"/>
          </a:xfrm>
          <a:prstGeom prst="rect">
            <a:avLst/>
          </a:prstGeom>
          <a:noFill/>
        </p:spPr>
        <p:txBody>
          <a:bodyPr wrap="square">
            <a:spAutoFit/>
          </a:bodyPr>
          <a:lstStyle/>
          <a:p>
            <a:pPr algn="ctr"/>
            <a:r>
              <a:rPr sz="1800" b="1" i="0">
                <a:solidFill>
                  <a:srgbClr val="C0392B"/>
                </a:solidFill>
                <a:latin typeface="Calibri"/>
              </a:rPr>
              <a:t>O(N)</a:t>
            </a:r>
          </a:p>
        </p:txBody>
      </p:sp>
      <p:sp>
        <p:nvSpPr>
          <p:cNvPr id="19" name="TextBox 18"/>
          <p:cNvSpPr txBox="1"/>
          <p:nvPr/>
        </p:nvSpPr>
        <p:spPr>
          <a:xfrm>
            <a:off x="6355080" y="3273551"/>
            <a:ext cx="5029200" cy="347472"/>
          </a:xfrm>
          <a:prstGeom prst="rect">
            <a:avLst/>
          </a:prstGeom>
          <a:noFill/>
        </p:spPr>
        <p:txBody>
          <a:bodyPr wrap="square">
            <a:spAutoFit/>
          </a:bodyPr>
          <a:lstStyle/>
          <a:p>
            <a:pPr algn="l"/>
            <a:r>
              <a:rPr sz="1150" b="0" i="0">
                <a:solidFill>
                  <a:srgbClr val="606060"/>
                </a:solidFill>
                <a:latin typeface="Calibri"/>
              </a:rPr>
              <a:t>Recorre el rango completo de L hasta R.</a:t>
            </a:r>
          </a:p>
        </p:txBody>
      </p:sp>
      <p:sp>
        <p:nvSpPr>
          <p:cNvPr id="20" name="Rectangle 19"/>
          <p:cNvSpPr/>
          <p:nvPr/>
        </p:nvSpPr>
        <p:spPr>
          <a:xfrm>
            <a:off x="6217920" y="3794760"/>
            <a:ext cx="5303520" cy="822960"/>
          </a:xfrm>
          <a:prstGeom prst="rect">
            <a:avLst/>
          </a:prstGeom>
          <a:solidFill>
            <a:srgbClr val="F8F9FA"/>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31336"/>
            <a:ext cx="1828800" cy="365760"/>
          </a:xfrm>
          <a:prstGeom prst="rect">
            <a:avLst/>
          </a:prstGeom>
          <a:noFill/>
        </p:spPr>
        <p:txBody>
          <a:bodyPr wrap="square">
            <a:spAutoFit/>
          </a:bodyPr>
          <a:lstStyle/>
          <a:p>
            <a:pPr algn="l"/>
            <a:r>
              <a:rPr sz="1300" b="1" i="0">
                <a:solidFill>
                  <a:srgbClr val="1F4E79"/>
                </a:solidFill>
                <a:latin typeface="Calibri"/>
              </a:rPr>
              <a:t>Q consultas:</a:t>
            </a:r>
          </a:p>
        </p:txBody>
      </p:sp>
      <p:sp>
        <p:nvSpPr>
          <p:cNvPr id="22" name="TextBox 21"/>
          <p:cNvSpPr txBox="1"/>
          <p:nvPr/>
        </p:nvSpPr>
        <p:spPr>
          <a:xfrm>
            <a:off x="8229600" y="3813048"/>
            <a:ext cx="1463040" cy="411480"/>
          </a:xfrm>
          <a:prstGeom prst="rect">
            <a:avLst/>
          </a:prstGeom>
          <a:noFill/>
        </p:spPr>
        <p:txBody>
          <a:bodyPr wrap="square">
            <a:spAutoFit/>
          </a:bodyPr>
          <a:lstStyle/>
          <a:p>
            <a:pPr algn="ctr"/>
            <a:r>
              <a:rPr sz="1800" b="1" i="0">
                <a:solidFill>
                  <a:srgbClr val="C0392B"/>
                </a:solidFill>
                <a:latin typeface="Calibri"/>
              </a:rPr>
              <a:t>O(Q · N)</a:t>
            </a:r>
          </a:p>
        </p:txBody>
      </p:sp>
      <p:sp>
        <p:nvSpPr>
          <p:cNvPr id="23" name="TextBox 22"/>
          <p:cNvSpPr txBox="1"/>
          <p:nvPr/>
        </p:nvSpPr>
        <p:spPr>
          <a:xfrm>
            <a:off x="6355080" y="4233672"/>
            <a:ext cx="5029200" cy="347472"/>
          </a:xfrm>
          <a:prstGeom prst="rect">
            <a:avLst/>
          </a:prstGeom>
          <a:noFill/>
        </p:spPr>
        <p:txBody>
          <a:bodyPr wrap="square">
            <a:spAutoFit/>
          </a:bodyPr>
          <a:lstStyle/>
          <a:p>
            <a:pPr algn="l"/>
            <a:r>
              <a:rPr sz="1150" b="0" i="0">
                <a:solidFill>
                  <a:srgbClr val="606060"/>
                </a:solidFill>
                <a:latin typeface="Calibri"/>
              </a:rPr>
              <a:t>El costo crece de forma cuadrática.</a:t>
            </a:r>
          </a:p>
        </p:txBody>
      </p:sp>
      <p:sp>
        <p:nvSpPr>
          <p:cNvPr id="24" name="Rectangle 23"/>
          <p:cNvSpPr/>
          <p:nvPr/>
        </p:nvSpPr>
        <p:spPr>
          <a:xfrm>
            <a:off x="457200" y="5074920"/>
            <a:ext cx="11247120" cy="1371600"/>
          </a:xfrm>
          <a:prstGeom prst="rect">
            <a:avLst/>
          </a:prstGeom>
          <a:solidFill>
            <a:srgbClr val="FFEBEB"/>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166360"/>
            <a:ext cx="10972800" cy="1188720"/>
          </a:xfrm>
          <a:prstGeom prst="rect">
            <a:avLst/>
          </a:prstGeom>
          <a:noFill/>
        </p:spPr>
        <p:txBody>
          <a:bodyPr wrap="square">
            <a:spAutoFit/>
          </a:bodyPr>
          <a:lstStyle/>
          <a:p>
            <a:pPr algn="l"/>
            <a:r>
              <a:rPr sz="1400" b="0" i="0">
                <a:solidFill>
                  <a:srgbClr val="C0392B"/>
                </a:solidFill>
                <a:latin typeface="Calibri"/>
              </a:rPr>
              <a:t>✗  Para N = Q = 10⁶  →  10¹² operaciones  ≈  más de 51 minutos en Python.
   Absolutamente inviable en producción.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
            <a:ext cx="10972800" cy="777240"/>
          </a:xfrm>
          <a:prstGeom prst="rect">
            <a:avLst/>
          </a:prstGeom>
          <a:noFill/>
        </p:spPr>
        <p:txBody>
          <a:bodyPr wrap="square">
            <a:spAutoFit/>
          </a:bodyPr>
          <a:lstStyle/>
          <a:p>
            <a:pPr algn="l"/>
            <a:r>
              <a:rPr sz="2600" b="1" i="0">
                <a:solidFill>
                  <a:srgbClr val="FFFFFF"/>
                </a:solidFill>
                <a:latin typeface="Calibri"/>
              </a:rPr>
              <a:t>3.  La Solución:  Sparse Table  —  El Ingenio Matemático</a:t>
            </a:r>
          </a:p>
        </p:txBody>
      </p:sp>
      <p:sp>
        <p:nvSpPr>
          <p:cNvPr id="6" name="TextBox 5"/>
          <p:cNvSpPr txBox="1"/>
          <p:nvPr/>
        </p:nvSpPr>
        <p:spPr>
          <a:xfrm>
            <a:off x="10515600" y="228600"/>
            <a:ext cx="1463040" cy="548640"/>
          </a:xfrm>
          <a:prstGeom prst="rect">
            <a:avLst/>
          </a:prstGeom>
          <a:noFill/>
        </p:spPr>
        <p:txBody>
          <a:bodyPr wrap="square">
            <a:spAutoFit/>
          </a:bodyPr>
          <a:lstStyle/>
          <a:p>
            <a:pPr algn="r"/>
            <a:r>
              <a:rPr sz="1300" b="0" i="0">
                <a:solidFill>
                  <a:srgbClr val="FFC000"/>
                </a:solidFill>
                <a:latin typeface="Calibri"/>
              </a:rPr>
              <a:t>04 / 08</a:t>
            </a:r>
          </a:p>
        </p:txBody>
      </p:sp>
      <p:sp>
        <p:nvSpPr>
          <p:cNvPr id="7" name="Rectangle 6"/>
          <p:cNvSpPr/>
          <p:nvPr/>
        </p:nvSpPr>
        <p:spPr>
          <a:xfrm>
            <a:off x="457200" y="1234440"/>
            <a:ext cx="5394960" cy="2468880"/>
          </a:xfrm>
          <a:prstGeom prst="rect">
            <a:avLst/>
          </a:prstGeom>
          <a:solidFill>
            <a:srgbClr val="1F4E79"/>
          </a:solidFill>
          <a:ln w="190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25880"/>
            <a:ext cx="5029200" cy="457200"/>
          </a:xfrm>
          <a:prstGeom prst="rect">
            <a:avLst/>
          </a:prstGeom>
          <a:noFill/>
        </p:spPr>
        <p:txBody>
          <a:bodyPr wrap="square">
            <a:spAutoFit/>
          </a:bodyPr>
          <a:lstStyle/>
          <a:p>
            <a:pPr algn="l"/>
            <a:r>
              <a:rPr sz="1500" b="1" i="0">
                <a:solidFill>
                  <a:srgbClr val="FFC000"/>
                </a:solidFill>
                <a:latin typeface="Calibri"/>
              </a:rPr>
              <a:t>💡 Concepto 1: Potencias de 2</a:t>
            </a:r>
          </a:p>
        </p:txBody>
      </p:sp>
      <p:sp>
        <p:nvSpPr>
          <p:cNvPr id="9" name="TextBox 8"/>
          <p:cNvSpPr txBox="1"/>
          <p:nvPr/>
        </p:nvSpPr>
        <p:spPr>
          <a:xfrm>
            <a:off x="640080" y="1810512"/>
            <a:ext cx="5029200" cy="1828800"/>
          </a:xfrm>
          <a:prstGeom prst="rect">
            <a:avLst/>
          </a:prstGeom>
          <a:noFill/>
        </p:spPr>
        <p:txBody>
          <a:bodyPr wrap="square">
            <a:spAutoFit/>
          </a:bodyPr>
          <a:lstStyle/>
          <a:p>
            <a:pPr algn="l"/>
            <a:r>
              <a:rPr sz="1400" b="0" i="0">
                <a:solidFill>
                  <a:srgbClr val="FFFFFF"/>
                </a:solidFill>
                <a:latin typeface="Calibri"/>
              </a:rPr>
              <a:t>Cualquier número entero positivo puede
representarse como suma de potencias de 2.
Por tanto, cualquier rango [L, R] se puede
cubrir con bloques de tamaño 2⁰, 2¹, 2², ...</a:t>
            </a:r>
          </a:p>
        </p:txBody>
      </p:sp>
      <p:sp>
        <p:nvSpPr>
          <p:cNvPr id="10" name="Rectangle 9"/>
          <p:cNvSpPr/>
          <p:nvPr/>
        </p:nvSpPr>
        <p:spPr>
          <a:xfrm>
            <a:off x="6309360" y="1234440"/>
            <a:ext cx="5394960" cy="2468880"/>
          </a:xfrm>
          <a:prstGeom prst="rect">
            <a:avLst/>
          </a:prstGeom>
          <a:solidFill>
            <a:srgbClr val="1F4E79"/>
          </a:solidFill>
          <a:ln w="190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325880"/>
            <a:ext cx="5029200" cy="457200"/>
          </a:xfrm>
          <a:prstGeom prst="rect">
            <a:avLst/>
          </a:prstGeom>
          <a:noFill/>
        </p:spPr>
        <p:txBody>
          <a:bodyPr wrap="square">
            <a:spAutoFit/>
          </a:bodyPr>
          <a:lstStyle/>
          <a:p>
            <a:pPr algn="l"/>
            <a:r>
              <a:rPr sz="1500" b="1" i="0">
                <a:solidFill>
                  <a:srgbClr val="FFC000"/>
                </a:solidFill>
                <a:latin typeface="Calibri"/>
              </a:rPr>
              <a:t>💡 Concepto 2: Idempotencia del Mínimo</a:t>
            </a:r>
          </a:p>
        </p:txBody>
      </p:sp>
      <p:sp>
        <p:nvSpPr>
          <p:cNvPr id="12" name="TextBox 11"/>
          <p:cNvSpPr txBox="1"/>
          <p:nvPr/>
        </p:nvSpPr>
        <p:spPr>
          <a:xfrm>
            <a:off x="6492240" y="1810512"/>
            <a:ext cx="5029200" cy="365760"/>
          </a:xfrm>
          <a:prstGeom prst="rect">
            <a:avLst/>
          </a:prstGeom>
          <a:noFill/>
        </p:spPr>
        <p:txBody>
          <a:bodyPr wrap="square">
            <a:spAutoFit/>
          </a:bodyPr>
          <a:lstStyle/>
          <a:p>
            <a:pPr algn="l"/>
            <a:r>
              <a:rPr sz="1400" b="0" i="0">
                <a:solidFill>
                  <a:srgbClr val="FFFFFF"/>
                </a:solidFill>
                <a:latin typeface="Calibri"/>
              </a:rPr>
              <a:t>La función mínimo es idempotente:</a:t>
            </a:r>
          </a:p>
        </p:txBody>
      </p:sp>
      <p:sp>
        <p:nvSpPr>
          <p:cNvPr id="13" name="Rectangle 12"/>
          <p:cNvSpPr/>
          <p:nvPr/>
        </p:nvSpPr>
        <p:spPr>
          <a:xfrm>
            <a:off x="6766560" y="2240280"/>
            <a:ext cx="4389120" cy="5943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2240280"/>
            <a:ext cx="4389120" cy="594360"/>
          </a:xfrm>
          <a:prstGeom prst="rect">
            <a:avLst/>
          </a:prstGeom>
          <a:noFill/>
        </p:spPr>
        <p:txBody>
          <a:bodyPr wrap="square">
            <a:spAutoFit/>
          </a:bodyPr>
          <a:lstStyle/>
          <a:p>
            <a:pPr algn="ctr"/>
            <a:r>
              <a:rPr sz="2200" b="1" i="0">
                <a:solidFill>
                  <a:srgbClr val="FFC000"/>
                </a:solidFill>
                <a:latin typeface="Calibri"/>
              </a:rPr>
              <a:t>min(x, x) = x</a:t>
            </a:r>
          </a:p>
        </p:txBody>
      </p:sp>
      <p:sp>
        <p:nvSpPr>
          <p:cNvPr id="15" name="TextBox 14"/>
          <p:cNvSpPr txBox="1"/>
          <p:nvPr/>
        </p:nvSpPr>
        <p:spPr>
          <a:xfrm>
            <a:off x="6492240" y="2907792"/>
            <a:ext cx="5029200" cy="914400"/>
          </a:xfrm>
          <a:prstGeom prst="rect">
            <a:avLst/>
          </a:prstGeom>
          <a:noFill/>
        </p:spPr>
        <p:txBody>
          <a:bodyPr wrap="square">
            <a:spAutoFit/>
          </a:bodyPr>
          <a:lstStyle/>
          <a:p>
            <a:pPr algn="l"/>
            <a:r>
              <a:rPr sz="1400" b="0" i="0">
                <a:solidFill>
                  <a:srgbClr val="FFFFFF"/>
                </a:solidFill>
                <a:latin typeface="Calibri"/>
              </a:rPr>
              <a:t>Dos bloques solapados NO alteran
el resultado final. Podemos solapar
sin perder exactitud.</a:t>
            </a:r>
          </a:p>
        </p:txBody>
      </p:sp>
      <p:sp>
        <p:nvSpPr>
          <p:cNvPr id="16" name="Rectangle 15"/>
          <p:cNvSpPr/>
          <p:nvPr/>
        </p:nvSpPr>
        <p:spPr>
          <a:xfrm>
            <a:off x="457200" y="3886200"/>
            <a:ext cx="11247120" cy="2606040"/>
          </a:xfrm>
          <a:prstGeom prst="rect">
            <a:avLst/>
          </a:prstGeom>
          <a:solidFill>
            <a:srgbClr val="FFFF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50208"/>
            <a:ext cx="10972800" cy="411480"/>
          </a:xfrm>
          <a:prstGeom prst="rect">
            <a:avLst/>
          </a:prstGeom>
          <a:noFill/>
        </p:spPr>
        <p:txBody>
          <a:bodyPr wrap="square">
            <a:spAutoFit/>
          </a:bodyPr>
          <a:lstStyle/>
          <a:p>
            <a:pPr algn="l"/>
            <a:r>
              <a:rPr sz="1500" b="1" i="0">
                <a:solidFill>
                  <a:srgbClr val="1F4E79"/>
                </a:solidFill>
                <a:latin typeface="Calibri"/>
              </a:rPr>
              <a:t>¿Cómo se cubre cualquier rango [L, R]?</a:t>
            </a:r>
          </a:p>
        </p:txBody>
      </p:sp>
      <p:sp>
        <p:nvSpPr>
          <p:cNvPr id="18" name="Rectangle 17"/>
          <p:cNvSpPr/>
          <p:nvPr/>
        </p:nvSpPr>
        <p:spPr>
          <a:xfrm>
            <a:off x="91440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62272"/>
            <a:ext cx="868680" cy="457200"/>
          </a:xfrm>
          <a:prstGeom prst="rect">
            <a:avLst/>
          </a:prstGeom>
          <a:noFill/>
        </p:spPr>
        <p:txBody>
          <a:bodyPr wrap="square">
            <a:spAutoFit/>
          </a:bodyPr>
          <a:lstStyle/>
          <a:p>
            <a:pPr algn="ctr"/>
            <a:r>
              <a:rPr sz="1300" b="1" i="0">
                <a:solidFill>
                  <a:srgbClr val="1F4E79"/>
                </a:solidFill>
                <a:latin typeface="Calibri"/>
              </a:rPr>
              <a:t>0</a:t>
            </a:r>
          </a:p>
        </p:txBody>
      </p:sp>
      <p:sp>
        <p:nvSpPr>
          <p:cNvPr id="20" name="Rectangle 19"/>
          <p:cNvSpPr/>
          <p:nvPr/>
        </p:nvSpPr>
        <p:spPr>
          <a:xfrm>
            <a:off x="192024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20240" y="4462272"/>
            <a:ext cx="868680" cy="457200"/>
          </a:xfrm>
          <a:prstGeom prst="rect">
            <a:avLst/>
          </a:prstGeom>
          <a:noFill/>
        </p:spPr>
        <p:txBody>
          <a:bodyPr wrap="square">
            <a:spAutoFit/>
          </a:bodyPr>
          <a:lstStyle/>
          <a:p>
            <a:pPr algn="ctr"/>
            <a:r>
              <a:rPr sz="1300" b="1" i="0">
                <a:solidFill>
                  <a:srgbClr val="1F4E79"/>
                </a:solidFill>
                <a:latin typeface="Calibri"/>
              </a:rPr>
              <a:t>1</a:t>
            </a:r>
          </a:p>
        </p:txBody>
      </p:sp>
      <p:sp>
        <p:nvSpPr>
          <p:cNvPr id="22" name="Rectangle 21"/>
          <p:cNvSpPr/>
          <p:nvPr/>
        </p:nvSpPr>
        <p:spPr>
          <a:xfrm>
            <a:off x="292608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0" y="4462272"/>
            <a:ext cx="868680" cy="457200"/>
          </a:xfrm>
          <a:prstGeom prst="rect">
            <a:avLst/>
          </a:prstGeom>
          <a:noFill/>
        </p:spPr>
        <p:txBody>
          <a:bodyPr wrap="square">
            <a:spAutoFit/>
          </a:bodyPr>
          <a:lstStyle/>
          <a:p>
            <a:pPr algn="ctr"/>
            <a:r>
              <a:rPr sz="1300" b="1" i="0">
                <a:solidFill>
                  <a:srgbClr val="1F4E79"/>
                </a:solidFill>
                <a:latin typeface="Calibri"/>
              </a:rPr>
              <a:t>2</a:t>
            </a:r>
          </a:p>
        </p:txBody>
      </p:sp>
      <p:sp>
        <p:nvSpPr>
          <p:cNvPr id="24" name="Rectangle 23"/>
          <p:cNvSpPr/>
          <p:nvPr/>
        </p:nvSpPr>
        <p:spPr>
          <a:xfrm>
            <a:off x="393192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0" y="4462272"/>
            <a:ext cx="868680" cy="457200"/>
          </a:xfrm>
          <a:prstGeom prst="rect">
            <a:avLst/>
          </a:prstGeom>
          <a:noFill/>
        </p:spPr>
        <p:txBody>
          <a:bodyPr wrap="square">
            <a:spAutoFit/>
          </a:bodyPr>
          <a:lstStyle/>
          <a:p>
            <a:pPr algn="ctr"/>
            <a:r>
              <a:rPr sz="1300" b="1" i="0">
                <a:solidFill>
                  <a:srgbClr val="1F4E79"/>
                </a:solidFill>
                <a:latin typeface="Calibri"/>
              </a:rPr>
              <a:t>3</a:t>
            </a:r>
          </a:p>
        </p:txBody>
      </p:sp>
      <p:sp>
        <p:nvSpPr>
          <p:cNvPr id="26" name="Rectangle 25"/>
          <p:cNvSpPr/>
          <p:nvPr/>
        </p:nvSpPr>
        <p:spPr>
          <a:xfrm>
            <a:off x="493776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0" y="4462272"/>
            <a:ext cx="868680" cy="457200"/>
          </a:xfrm>
          <a:prstGeom prst="rect">
            <a:avLst/>
          </a:prstGeom>
          <a:noFill/>
        </p:spPr>
        <p:txBody>
          <a:bodyPr wrap="square">
            <a:spAutoFit/>
          </a:bodyPr>
          <a:lstStyle/>
          <a:p>
            <a:pPr algn="ctr"/>
            <a:r>
              <a:rPr sz="1300" b="1" i="0">
                <a:solidFill>
                  <a:srgbClr val="1F4E79"/>
                </a:solidFill>
                <a:latin typeface="Calibri"/>
              </a:rPr>
              <a:t>4</a:t>
            </a:r>
          </a:p>
        </p:txBody>
      </p:sp>
      <p:sp>
        <p:nvSpPr>
          <p:cNvPr id="28" name="Rectangle 27"/>
          <p:cNvSpPr/>
          <p:nvPr/>
        </p:nvSpPr>
        <p:spPr>
          <a:xfrm>
            <a:off x="594360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0" y="4462272"/>
            <a:ext cx="868680" cy="457200"/>
          </a:xfrm>
          <a:prstGeom prst="rect">
            <a:avLst/>
          </a:prstGeom>
          <a:noFill/>
        </p:spPr>
        <p:txBody>
          <a:bodyPr wrap="square">
            <a:spAutoFit/>
          </a:bodyPr>
          <a:lstStyle/>
          <a:p>
            <a:pPr algn="ctr"/>
            <a:r>
              <a:rPr sz="1300" b="1" i="0">
                <a:solidFill>
                  <a:srgbClr val="1F4E79"/>
                </a:solidFill>
                <a:latin typeface="Calibri"/>
              </a:rPr>
              <a:t>5</a:t>
            </a:r>
          </a:p>
        </p:txBody>
      </p:sp>
      <p:sp>
        <p:nvSpPr>
          <p:cNvPr id="30" name="Rectangle 29"/>
          <p:cNvSpPr/>
          <p:nvPr/>
        </p:nvSpPr>
        <p:spPr>
          <a:xfrm>
            <a:off x="694944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0" y="4462272"/>
            <a:ext cx="868680" cy="457200"/>
          </a:xfrm>
          <a:prstGeom prst="rect">
            <a:avLst/>
          </a:prstGeom>
          <a:noFill/>
        </p:spPr>
        <p:txBody>
          <a:bodyPr wrap="square">
            <a:spAutoFit/>
          </a:bodyPr>
          <a:lstStyle/>
          <a:p>
            <a:pPr algn="ctr"/>
            <a:r>
              <a:rPr sz="1300" b="1" i="0">
                <a:solidFill>
                  <a:srgbClr val="1F4E79"/>
                </a:solidFill>
                <a:latin typeface="Calibri"/>
              </a:rPr>
              <a:t>6</a:t>
            </a:r>
          </a:p>
        </p:txBody>
      </p:sp>
      <p:sp>
        <p:nvSpPr>
          <p:cNvPr id="32" name="Rectangle 31"/>
          <p:cNvSpPr/>
          <p:nvPr/>
        </p:nvSpPr>
        <p:spPr>
          <a:xfrm>
            <a:off x="795528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0" y="4462272"/>
            <a:ext cx="868680" cy="457200"/>
          </a:xfrm>
          <a:prstGeom prst="rect">
            <a:avLst/>
          </a:prstGeom>
          <a:noFill/>
        </p:spPr>
        <p:txBody>
          <a:bodyPr wrap="square">
            <a:spAutoFit/>
          </a:bodyPr>
          <a:lstStyle/>
          <a:p>
            <a:pPr algn="ctr"/>
            <a:r>
              <a:rPr sz="1300" b="1" i="0">
                <a:solidFill>
                  <a:srgbClr val="1F4E79"/>
                </a:solidFill>
                <a:latin typeface="Calibri"/>
              </a:rPr>
              <a:t>7</a:t>
            </a:r>
          </a:p>
        </p:txBody>
      </p:sp>
      <p:sp>
        <p:nvSpPr>
          <p:cNvPr id="34" name="Rectangle 33"/>
          <p:cNvSpPr/>
          <p:nvPr/>
        </p:nvSpPr>
        <p:spPr>
          <a:xfrm>
            <a:off x="896112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0" y="4462272"/>
            <a:ext cx="868680" cy="457200"/>
          </a:xfrm>
          <a:prstGeom prst="rect">
            <a:avLst/>
          </a:prstGeom>
          <a:noFill/>
        </p:spPr>
        <p:txBody>
          <a:bodyPr wrap="square">
            <a:spAutoFit/>
          </a:bodyPr>
          <a:lstStyle/>
          <a:p>
            <a:pPr algn="ctr"/>
            <a:r>
              <a:rPr sz="1300" b="1" i="0">
                <a:solidFill>
                  <a:srgbClr val="1F4E79"/>
                </a:solidFill>
                <a:latin typeface="Calibri"/>
              </a:rPr>
              <a:t>8</a:t>
            </a:r>
          </a:p>
        </p:txBody>
      </p:sp>
      <p:sp>
        <p:nvSpPr>
          <p:cNvPr id="36" name="Rectangle 35"/>
          <p:cNvSpPr/>
          <p:nvPr/>
        </p:nvSpPr>
        <p:spPr>
          <a:xfrm>
            <a:off x="9966960" y="4462272"/>
            <a:ext cx="868680" cy="457200"/>
          </a:xfrm>
          <a:prstGeom prst="rect">
            <a:avLst/>
          </a:prstGeom>
          <a:solidFill>
            <a:srgbClr val="E8F0F8"/>
          </a:solidFill>
          <a:ln w="1016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4462272"/>
            <a:ext cx="868680" cy="457200"/>
          </a:xfrm>
          <a:prstGeom prst="rect">
            <a:avLst/>
          </a:prstGeom>
          <a:noFill/>
        </p:spPr>
        <p:txBody>
          <a:bodyPr wrap="square">
            <a:spAutoFit/>
          </a:bodyPr>
          <a:lstStyle/>
          <a:p>
            <a:pPr algn="ctr"/>
            <a:r>
              <a:rPr sz="1300" b="1" i="0">
                <a:solidFill>
                  <a:srgbClr val="1F4E79"/>
                </a:solidFill>
                <a:latin typeface="Calibri"/>
              </a:rPr>
              <a:t>9</a:t>
            </a:r>
          </a:p>
        </p:txBody>
      </p:sp>
      <p:sp>
        <p:nvSpPr>
          <p:cNvPr id="38" name="Rectangle 37"/>
          <p:cNvSpPr/>
          <p:nvPr/>
        </p:nvSpPr>
        <p:spPr>
          <a:xfrm>
            <a:off x="914400" y="5029200"/>
            <a:ext cx="3886200" cy="411480"/>
          </a:xfrm>
          <a:prstGeom prst="rect">
            <a:avLst/>
          </a:prstGeom>
          <a:solidFill>
            <a:srgbClr val="2E75B6"/>
          </a:solidFill>
          <a:ln w="635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047488"/>
            <a:ext cx="3840480" cy="365760"/>
          </a:xfrm>
          <a:prstGeom prst="rect">
            <a:avLst/>
          </a:prstGeom>
          <a:noFill/>
        </p:spPr>
        <p:txBody>
          <a:bodyPr wrap="square">
            <a:spAutoFit/>
          </a:bodyPr>
          <a:lstStyle/>
          <a:p>
            <a:pPr algn="ctr"/>
            <a:r>
              <a:rPr sz="1100" b="1" i="0">
                <a:solidFill>
                  <a:srgbClr val="FFFFFF"/>
                </a:solidFill>
                <a:latin typeface="Calibri"/>
              </a:rPr>
              <a:t>Bloque 1: [L=1, L+2ᵏ-1]  (2ᵏ = 4 elementos)</a:t>
            </a:r>
          </a:p>
        </p:txBody>
      </p:sp>
      <p:sp>
        <p:nvSpPr>
          <p:cNvPr id="40" name="Rectangle 39"/>
          <p:cNvSpPr/>
          <p:nvPr/>
        </p:nvSpPr>
        <p:spPr>
          <a:xfrm>
            <a:off x="3931920" y="5532120"/>
            <a:ext cx="3886200" cy="411480"/>
          </a:xfrm>
          <a:prstGeom prst="rect">
            <a:avLst/>
          </a:prstGeom>
          <a:solidFill>
            <a:srgbClr val="FFC000"/>
          </a:solidFill>
          <a:ln w="635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31920" y="5550408"/>
            <a:ext cx="3840480" cy="365760"/>
          </a:xfrm>
          <a:prstGeom prst="rect">
            <a:avLst/>
          </a:prstGeom>
          <a:noFill/>
        </p:spPr>
        <p:txBody>
          <a:bodyPr wrap="square">
            <a:spAutoFit/>
          </a:bodyPr>
          <a:lstStyle/>
          <a:p>
            <a:pPr algn="ctr"/>
            <a:r>
              <a:rPr sz="1100" b="1" i="0">
                <a:solidFill>
                  <a:srgbClr val="262626"/>
                </a:solidFill>
                <a:latin typeface="Calibri"/>
              </a:rPr>
              <a:t>Bloque 2: [R-2ᵏ+1, R=6]  (solapado)</a:t>
            </a:r>
          </a:p>
        </p:txBody>
      </p:sp>
      <p:sp>
        <p:nvSpPr>
          <p:cNvPr id="42" name="TextBox 41"/>
          <p:cNvSpPr txBox="1"/>
          <p:nvPr/>
        </p:nvSpPr>
        <p:spPr>
          <a:xfrm>
            <a:off x="7772400" y="5303520"/>
            <a:ext cx="4114800" cy="640080"/>
          </a:xfrm>
          <a:prstGeom prst="rect">
            <a:avLst/>
          </a:prstGeom>
          <a:noFill/>
        </p:spPr>
        <p:txBody>
          <a:bodyPr wrap="square">
            <a:spAutoFit/>
          </a:bodyPr>
          <a:lstStyle/>
          <a:p>
            <a:pPr algn="ctr"/>
            <a:r>
              <a:rPr sz="1300" b="1" i="0">
                <a:solidFill>
                  <a:srgbClr val="378636"/>
                </a:solidFill>
                <a:latin typeface="Calibri"/>
              </a:rPr>
              <a:t>RMQ(L, R) = min( ST[L][k],  ST[R-2ᵏ+1][k] )   →   O(1)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
            <a:ext cx="10972800" cy="777240"/>
          </a:xfrm>
          <a:prstGeom prst="rect">
            <a:avLst/>
          </a:prstGeom>
          <a:noFill/>
        </p:spPr>
        <p:txBody>
          <a:bodyPr wrap="square">
            <a:spAutoFit/>
          </a:bodyPr>
          <a:lstStyle/>
          <a:p>
            <a:pPr algn="l"/>
            <a:r>
              <a:rPr sz="2800" b="1" i="0">
                <a:solidFill>
                  <a:srgbClr val="FFFFFF"/>
                </a:solidFill>
                <a:latin typeface="Calibri"/>
              </a:rPr>
              <a:t>4.  Desarrollo Matemático e Implementación</a:t>
            </a:r>
          </a:p>
        </p:txBody>
      </p:sp>
      <p:sp>
        <p:nvSpPr>
          <p:cNvPr id="6" name="TextBox 5"/>
          <p:cNvSpPr txBox="1"/>
          <p:nvPr/>
        </p:nvSpPr>
        <p:spPr>
          <a:xfrm>
            <a:off x="10515600" y="228600"/>
            <a:ext cx="1463040" cy="548640"/>
          </a:xfrm>
          <a:prstGeom prst="rect">
            <a:avLst/>
          </a:prstGeom>
          <a:noFill/>
        </p:spPr>
        <p:txBody>
          <a:bodyPr wrap="square">
            <a:spAutoFit/>
          </a:bodyPr>
          <a:lstStyle/>
          <a:p>
            <a:pPr algn="r"/>
            <a:r>
              <a:rPr sz="1300" b="0" i="0">
                <a:solidFill>
                  <a:srgbClr val="FFC000"/>
                </a:solidFill>
                <a:latin typeface="Calibri"/>
              </a:rPr>
              <a:t>05 / 08</a:t>
            </a:r>
          </a:p>
        </p:txBody>
      </p:sp>
      <p:sp>
        <p:nvSpPr>
          <p:cNvPr id="7" name="Rectangle 6"/>
          <p:cNvSpPr/>
          <p:nvPr/>
        </p:nvSpPr>
        <p:spPr>
          <a:xfrm>
            <a:off x="457200" y="1234440"/>
            <a:ext cx="5394960" cy="5257800"/>
          </a:xfrm>
          <a:prstGeom prst="rect">
            <a:avLst/>
          </a:prstGeom>
          <a:solidFill>
            <a:srgbClr val="FFFF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25880"/>
            <a:ext cx="5029200" cy="457200"/>
          </a:xfrm>
          <a:prstGeom prst="rect">
            <a:avLst/>
          </a:prstGeom>
          <a:noFill/>
        </p:spPr>
        <p:txBody>
          <a:bodyPr wrap="square">
            <a:spAutoFit/>
          </a:bodyPr>
          <a:lstStyle/>
          <a:p>
            <a:pPr algn="l"/>
            <a:r>
              <a:rPr sz="1400" b="1" i="0">
                <a:solidFill>
                  <a:srgbClr val="1F4E79"/>
                </a:solidFill>
                <a:latin typeface="Calibri"/>
              </a:rPr>
              <a:t>Precomputación (Programación Dinámica)</a:t>
            </a:r>
          </a:p>
        </p:txBody>
      </p:sp>
      <p:sp>
        <p:nvSpPr>
          <p:cNvPr id="9" name="TextBox 8"/>
          <p:cNvSpPr txBox="1"/>
          <p:nvPr/>
        </p:nvSpPr>
        <p:spPr>
          <a:xfrm>
            <a:off x="640080" y="1828800"/>
            <a:ext cx="5029200" cy="411480"/>
          </a:xfrm>
          <a:prstGeom prst="rect">
            <a:avLst/>
          </a:prstGeom>
          <a:noFill/>
        </p:spPr>
        <p:txBody>
          <a:bodyPr wrap="square">
            <a:spAutoFit/>
          </a:bodyPr>
          <a:lstStyle/>
          <a:p>
            <a:pPr algn="l"/>
            <a:r>
              <a:rPr sz="1300" b="0" i="0">
                <a:solidFill>
                  <a:srgbClr val="606060"/>
                </a:solidFill>
                <a:latin typeface="Calibri"/>
              </a:rPr>
              <a:t>ST[i][j]  =  mínimo del rango de tamaño 2ʲ desde i</a:t>
            </a:r>
          </a:p>
        </p:txBody>
      </p:sp>
      <p:sp>
        <p:nvSpPr>
          <p:cNvPr id="10" name="Rectangle 9"/>
          <p:cNvSpPr/>
          <p:nvPr/>
        </p:nvSpPr>
        <p:spPr>
          <a:xfrm>
            <a:off x="640080" y="2331720"/>
            <a:ext cx="5029200" cy="59436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59152"/>
            <a:ext cx="4754880" cy="274320"/>
          </a:xfrm>
          <a:prstGeom prst="rect">
            <a:avLst/>
          </a:prstGeom>
          <a:noFill/>
        </p:spPr>
        <p:txBody>
          <a:bodyPr wrap="square">
            <a:spAutoFit/>
          </a:bodyPr>
          <a:lstStyle/>
          <a:p>
            <a:pPr algn="l"/>
            <a:r>
              <a:rPr sz="1300" b="1" i="0">
                <a:solidFill>
                  <a:srgbClr val="1F4E79"/>
                </a:solidFill>
                <a:latin typeface="Calibri"/>
              </a:rPr>
              <a:t>Caso base  (j = 0):</a:t>
            </a:r>
          </a:p>
        </p:txBody>
      </p:sp>
      <p:sp>
        <p:nvSpPr>
          <p:cNvPr id="12" name="Rectangle 11"/>
          <p:cNvSpPr/>
          <p:nvPr/>
        </p:nvSpPr>
        <p:spPr>
          <a:xfrm>
            <a:off x="640080" y="2971800"/>
            <a:ext cx="5029200"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971800"/>
            <a:ext cx="5029200" cy="502920"/>
          </a:xfrm>
          <a:prstGeom prst="rect">
            <a:avLst/>
          </a:prstGeom>
          <a:noFill/>
        </p:spPr>
        <p:txBody>
          <a:bodyPr wrap="square">
            <a:spAutoFit/>
          </a:bodyPr>
          <a:lstStyle/>
          <a:p>
            <a:pPr algn="ctr"/>
            <a:r>
              <a:rPr sz="1500" b="1" i="0">
                <a:solidFill>
                  <a:srgbClr val="FFC000"/>
                </a:solidFill>
                <a:latin typeface="Consolas"/>
              </a:rPr>
              <a:t>ST[i][0] = A[i]    ∀ i ∈ [0, N-1]</a:t>
            </a:r>
          </a:p>
        </p:txBody>
      </p:sp>
      <p:sp>
        <p:nvSpPr>
          <p:cNvPr id="14" name="Rectangle 13"/>
          <p:cNvSpPr/>
          <p:nvPr/>
        </p:nvSpPr>
        <p:spPr>
          <a:xfrm>
            <a:off x="640080" y="3566160"/>
            <a:ext cx="5029200" cy="59436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593592"/>
            <a:ext cx="4754880" cy="274320"/>
          </a:xfrm>
          <a:prstGeom prst="rect">
            <a:avLst/>
          </a:prstGeom>
          <a:noFill/>
        </p:spPr>
        <p:txBody>
          <a:bodyPr wrap="square">
            <a:spAutoFit/>
          </a:bodyPr>
          <a:lstStyle/>
          <a:p>
            <a:pPr algn="l"/>
            <a:r>
              <a:rPr sz="1300" b="1" i="0">
                <a:solidFill>
                  <a:srgbClr val="1F4E79"/>
                </a:solidFill>
                <a:latin typeface="Calibri"/>
              </a:rPr>
              <a:t>Transición DP  (j &gt; 0):</a:t>
            </a:r>
          </a:p>
        </p:txBody>
      </p:sp>
      <p:sp>
        <p:nvSpPr>
          <p:cNvPr id="16" name="Rectangle 15"/>
          <p:cNvSpPr/>
          <p:nvPr/>
        </p:nvSpPr>
        <p:spPr>
          <a:xfrm>
            <a:off x="640080" y="4206240"/>
            <a:ext cx="5029200"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06240"/>
            <a:ext cx="5029200" cy="685800"/>
          </a:xfrm>
          <a:prstGeom prst="rect">
            <a:avLst/>
          </a:prstGeom>
          <a:noFill/>
        </p:spPr>
        <p:txBody>
          <a:bodyPr wrap="square">
            <a:spAutoFit/>
          </a:bodyPr>
          <a:lstStyle/>
          <a:p>
            <a:pPr algn="ctr"/>
            <a:r>
              <a:rPr sz="1300" b="1" i="0">
                <a:solidFill>
                  <a:srgbClr val="FFC000"/>
                </a:solidFill>
                <a:latin typeface="Consolas"/>
              </a:rPr>
              <a:t>ST[i][j] = min(
  ST[i][j-1],  ST[i+2^(j-1)][j-1]  )</a:t>
            </a:r>
          </a:p>
        </p:txBody>
      </p:sp>
      <p:sp>
        <p:nvSpPr>
          <p:cNvPr id="18" name="TextBox 17"/>
          <p:cNvSpPr txBox="1"/>
          <p:nvPr/>
        </p:nvSpPr>
        <p:spPr>
          <a:xfrm>
            <a:off x="640080" y="5029200"/>
            <a:ext cx="5029200" cy="411480"/>
          </a:xfrm>
          <a:prstGeom prst="rect">
            <a:avLst/>
          </a:prstGeom>
          <a:noFill/>
        </p:spPr>
        <p:txBody>
          <a:bodyPr wrap="square">
            <a:spAutoFit/>
          </a:bodyPr>
          <a:lstStyle/>
          <a:p>
            <a:pPr algn="l"/>
            <a:r>
              <a:rPr sz="1300" b="1" i="0">
                <a:solidFill>
                  <a:srgbClr val="2E75B6"/>
                </a:solidFill>
                <a:latin typeface="Calibri"/>
              </a:rPr>
              <a:t>Costo:   O(N log N)  en tiempo y espacio</a:t>
            </a:r>
          </a:p>
        </p:txBody>
      </p:sp>
      <p:sp>
        <p:nvSpPr>
          <p:cNvPr id="19" name="Rectangle 18"/>
          <p:cNvSpPr/>
          <p:nvPr/>
        </p:nvSpPr>
        <p:spPr>
          <a:xfrm>
            <a:off x="6309360" y="1234440"/>
            <a:ext cx="5394960" cy="5257800"/>
          </a:xfrm>
          <a:prstGeom prst="rect">
            <a:avLst/>
          </a:prstGeom>
          <a:solidFill>
            <a:srgbClr val="FFFF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325880"/>
            <a:ext cx="5029200" cy="457200"/>
          </a:xfrm>
          <a:prstGeom prst="rect">
            <a:avLst/>
          </a:prstGeom>
          <a:noFill/>
        </p:spPr>
        <p:txBody>
          <a:bodyPr wrap="square">
            <a:spAutoFit/>
          </a:bodyPr>
          <a:lstStyle/>
          <a:p>
            <a:pPr algn="l"/>
            <a:r>
              <a:rPr sz="1400" b="1" i="0">
                <a:solidFill>
                  <a:srgbClr val="1F4E79"/>
                </a:solidFill>
                <a:latin typeface="Calibri"/>
              </a:rPr>
              <a:t>Consulta en Tiempo Constante  O(1)</a:t>
            </a:r>
          </a:p>
        </p:txBody>
      </p:sp>
      <p:sp>
        <p:nvSpPr>
          <p:cNvPr id="21" name="TextBox 20"/>
          <p:cNvSpPr txBox="1"/>
          <p:nvPr/>
        </p:nvSpPr>
        <p:spPr>
          <a:xfrm>
            <a:off x="6492240" y="1874519"/>
            <a:ext cx="5029200" cy="1371600"/>
          </a:xfrm>
          <a:prstGeom prst="rect">
            <a:avLst/>
          </a:prstGeom>
          <a:noFill/>
        </p:spPr>
        <p:txBody>
          <a:bodyPr wrap="square">
            <a:spAutoFit/>
          </a:bodyPr>
          <a:lstStyle/>
          <a:p>
            <a:pPr algn="l"/>
            <a:r>
              <a:rPr sz="1400" b="0" i="0">
                <a:solidFill>
                  <a:srgbClr val="262626"/>
                </a:solidFill>
                <a:latin typeface="Calibri"/>
              </a:rPr>
              <a:t>1.  Calcular k = ⌊log₂(R - L + 1)⌋</a:t>
            </a:r>
          </a:p>
          <a:p>
            <a:pPr algn="l"/>
            <a:r>
              <a:rPr sz="1200" b="0" i="0">
                <a:solidFill>
                  <a:srgbClr val="606060"/>
                </a:solidFill>
                <a:latin typeface="Calibri"/>
              </a:rPr>
              <a:t>    (Una sola operación de bits, instantáneo)</a:t>
            </a:r>
          </a:p>
          <a:p>
            <a:pPr algn="l">
              <a:spcBef>
                <a:spcPts val="800"/>
              </a:spcBef>
            </a:pPr>
            <a:r>
              <a:rPr sz="1400" b="0" i="0">
                <a:solidFill>
                  <a:srgbClr val="262626"/>
                </a:solidFill>
                <a:latin typeface="Calibri"/>
              </a:rPr>
              <a:t>2.  Combinar dos bloques solapados:</a:t>
            </a:r>
          </a:p>
        </p:txBody>
      </p:sp>
      <p:sp>
        <p:nvSpPr>
          <p:cNvPr id="22" name="Rectangle 21"/>
          <p:cNvSpPr/>
          <p:nvPr/>
        </p:nvSpPr>
        <p:spPr>
          <a:xfrm>
            <a:off x="6492240" y="3200400"/>
            <a:ext cx="5029200"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200400"/>
            <a:ext cx="5029200" cy="822960"/>
          </a:xfrm>
          <a:prstGeom prst="rect">
            <a:avLst/>
          </a:prstGeom>
          <a:noFill/>
        </p:spPr>
        <p:txBody>
          <a:bodyPr wrap="square">
            <a:spAutoFit/>
          </a:bodyPr>
          <a:lstStyle/>
          <a:p>
            <a:pPr algn="ctr"/>
            <a:r>
              <a:rPr sz="1400" b="1" i="0">
                <a:solidFill>
                  <a:srgbClr val="FFC000"/>
                </a:solidFill>
                <a:latin typeface="Consolas"/>
              </a:rPr>
              <a:t>RMQ(L,R) = min( ST[L][k],
               ST[R-2ᵏ+1][k] )</a:t>
            </a:r>
          </a:p>
        </p:txBody>
      </p:sp>
      <p:sp>
        <p:nvSpPr>
          <p:cNvPr id="24" name="TextBox 23"/>
          <p:cNvSpPr txBox="1"/>
          <p:nvPr/>
        </p:nvSpPr>
        <p:spPr>
          <a:xfrm>
            <a:off x="6492240" y="4160520"/>
            <a:ext cx="5029200" cy="822960"/>
          </a:xfrm>
          <a:prstGeom prst="rect">
            <a:avLst/>
          </a:prstGeom>
          <a:noFill/>
        </p:spPr>
        <p:txBody>
          <a:bodyPr wrap="square">
            <a:spAutoFit/>
          </a:bodyPr>
          <a:lstStyle/>
          <a:p>
            <a:pPr algn="l"/>
            <a:r>
              <a:rPr sz="1300" b="0" i="0">
                <a:solidFill>
                  <a:srgbClr val="606060"/>
                </a:solidFill>
                <a:latin typeface="Calibri"/>
              </a:rPr>
              <a:t>Solo 1 resta  +  1 potencia de 2  +  1 comparación.</a:t>
            </a:r>
          </a:p>
          <a:p>
            <a:pPr algn="l">
              <a:spcBef>
                <a:spcPts val="400"/>
              </a:spcBef>
            </a:pPr>
            <a:r>
              <a:rPr sz="1300" b="0" i="0">
                <a:solidFill>
                  <a:srgbClr val="606060"/>
                </a:solidFill>
                <a:latin typeface="Calibri"/>
              </a:rPr>
              <a:t>Independiente del tamaño del rango [L, R].</a:t>
            </a:r>
          </a:p>
        </p:txBody>
      </p:sp>
      <p:sp>
        <p:nvSpPr>
          <p:cNvPr id="25" name="Rectangle 24"/>
          <p:cNvSpPr/>
          <p:nvPr/>
        </p:nvSpPr>
        <p:spPr>
          <a:xfrm>
            <a:off x="6492240" y="5074920"/>
            <a:ext cx="5029200" cy="1234440"/>
          </a:xfrm>
          <a:prstGeom prst="rect">
            <a:avLst/>
          </a:prstGeom>
          <a:solidFill>
            <a:srgbClr val="E8F5E9"/>
          </a:solidFill>
          <a:ln w="12700">
            <a:solidFill>
              <a:srgbClr val="3786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5120640"/>
            <a:ext cx="4754880" cy="347472"/>
          </a:xfrm>
          <a:prstGeom prst="rect">
            <a:avLst/>
          </a:prstGeom>
          <a:noFill/>
        </p:spPr>
        <p:txBody>
          <a:bodyPr wrap="square">
            <a:spAutoFit/>
          </a:bodyPr>
          <a:lstStyle/>
          <a:p>
            <a:pPr algn="l"/>
            <a:r>
              <a:rPr sz="1300" b="1" i="0">
                <a:solidFill>
                  <a:srgbClr val="1F4E79"/>
                </a:solidFill>
                <a:latin typeface="Calibri"/>
              </a:rPr>
              <a:t>Complejidad Total para Q consultas:</a:t>
            </a:r>
          </a:p>
        </p:txBody>
      </p:sp>
      <p:sp>
        <p:nvSpPr>
          <p:cNvPr id="27" name="TextBox 26"/>
          <p:cNvSpPr txBox="1"/>
          <p:nvPr/>
        </p:nvSpPr>
        <p:spPr>
          <a:xfrm>
            <a:off x="6629400" y="5504688"/>
            <a:ext cx="4754880" cy="822960"/>
          </a:xfrm>
          <a:prstGeom prst="rect">
            <a:avLst/>
          </a:prstGeom>
          <a:noFill/>
        </p:spPr>
        <p:txBody>
          <a:bodyPr wrap="square">
            <a:spAutoFit/>
          </a:bodyPr>
          <a:lstStyle/>
          <a:p>
            <a:pPr algn="l"/>
            <a:r>
              <a:rPr sz="1300" b="1" i="0">
                <a:solidFill>
                  <a:srgbClr val="C0392B"/>
                </a:solidFill>
                <a:latin typeface="Consolas"/>
              </a:rPr>
              <a:t>Naive:         O(Q · N)         ← lento</a:t>
            </a:r>
          </a:p>
          <a:p>
            <a:pPr algn="l"/>
            <a:r>
              <a:rPr sz="1300" b="1" i="0">
                <a:solidFill>
                  <a:srgbClr val="378636"/>
                </a:solidFill>
                <a:latin typeface="Consolas"/>
              </a:rPr>
              <a:t>Sparse Table:  O(N log N + Q)   ← rápido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
            <a:ext cx="10972800" cy="777240"/>
          </a:xfrm>
          <a:prstGeom prst="rect">
            <a:avLst/>
          </a:prstGeom>
          <a:noFill/>
        </p:spPr>
        <p:txBody>
          <a:bodyPr wrap="square">
            <a:spAutoFit/>
          </a:bodyPr>
          <a:lstStyle/>
          <a:p>
            <a:pPr algn="l"/>
            <a:r>
              <a:rPr sz="2800" b="1" i="0">
                <a:solidFill>
                  <a:srgbClr val="FFFFFF"/>
                </a:solidFill>
                <a:latin typeface="Calibri"/>
              </a:rPr>
              <a:t>5.  Resultados Empíricos  —  Benchmark</a:t>
            </a:r>
          </a:p>
        </p:txBody>
      </p:sp>
      <p:sp>
        <p:nvSpPr>
          <p:cNvPr id="6" name="TextBox 5"/>
          <p:cNvSpPr txBox="1"/>
          <p:nvPr/>
        </p:nvSpPr>
        <p:spPr>
          <a:xfrm>
            <a:off x="10515600" y="228600"/>
            <a:ext cx="1463040" cy="548640"/>
          </a:xfrm>
          <a:prstGeom prst="rect">
            <a:avLst/>
          </a:prstGeom>
          <a:noFill/>
        </p:spPr>
        <p:txBody>
          <a:bodyPr wrap="square">
            <a:spAutoFit/>
          </a:bodyPr>
          <a:lstStyle/>
          <a:p>
            <a:pPr algn="r"/>
            <a:r>
              <a:rPr sz="1300" b="0" i="0">
                <a:solidFill>
                  <a:srgbClr val="FFC000"/>
                </a:solidFill>
                <a:latin typeface="Calibri"/>
              </a:rPr>
              <a:t>06 / 08</a:t>
            </a:r>
          </a:p>
        </p:txBody>
      </p:sp>
      <p:sp>
        <p:nvSpPr>
          <p:cNvPr id="7" name="TextBox 6"/>
          <p:cNvSpPr txBox="1"/>
          <p:nvPr/>
        </p:nvSpPr>
        <p:spPr>
          <a:xfrm>
            <a:off x="594360" y="1170432"/>
            <a:ext cx="10972800" cy="320040"/>
          </a:xfrm>
          <a:prstGeom prst="rect">
            <a:avLst/>
          </a:prstGeom>
          <a:noFill/>
        </p:spPr>
        <p:txBody>
          <a:bodyPr wrap="square">
            <a:spAutoFit/>
          </a:bodyPr>
          <a:lstStyle/>
          <a:p>
            <a:pPr algn="l"/>
            <a:r>
              <a:rPr sz="1200" b="0" i="1">
                <a:solidFill>
                  <a:srgbClr val="606060"/>
                </a:solidFill>
                <a:latin typeface="Calibri"/>
              </a:rPr>
              <a:t>Ejecutado en Python 3.11  ·  src/benchmark.py  ·  Datos 100% reales</a:t>
            </a:r>
          </a:p>
        </p:txBody>
      </p:sp>
      <p:sp>
        <p:nvSpPr>
          <p:cNvPr id="8" name="Rectangle 7"/>
          <p:cNvSpPr/>
          <p:nvPr/>
        </p:nvSpPr>
        <p:spPr>
          <a:xfrm>
            <a:off x="457200" y="1572768"/>
            <a:ext cx="1645920" cy="4754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72768"/>
            <a:ext cx="1645920" cy="475488"/>
          </a:xfrm>
          <a:prstGeom prst="rect">
            <a:avLst/>
          </a:prstGeom>
          <a:noFill/>
        </p:spPr>
        <p:txBody>
          <a:bodyPr wrap="square">
            <a:spAutoFit/>
          </a:bodyPr>
          <a:lstStyle/>
          <a:p>
            <a:pPr algn="ctr"/>
            <a:r>
              <a:rPr sz="1250" b="1" i="0">
                <a:solidFill>
                  <a:srgbClr val="FFFFFF"/>
                </a:solidFill>
                <a:latin typeface="Calibri"/>
              </a:rPr>
              <a:t>N (Arreglo)</a:t>
            </a:r>
          </a:p>
        </p:txBody>
      </p:sp>
      <p:sp>
        <p:nvSpPr>
          <p:cNvPr id="10" name="Rectangle 9"/>
          <p:cNvSpPr/>
          <p:nvPr/>
        </p:nvSpPr>
        <p:spPr>
          <a:xfrm>
            <a:off x="2148840" y="1572768"/>
            <a:ext cx="1645920" cy="4754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48840" y="1572768"/>
            <a:ext cx="1645920" cy="475488"/>
          </a:xfrm>
          <a:prstGeom prst="rect">
            <a:avLst/>
          </a:prstGeom>
          <a:noFill/>
        </p:spPr>
        <p:txBody>
          <a:bodyPr wrap="square">
            <a:spAutoFit/>
          </a:bodyPr>
          <a:lstStyle/>
          <a:p>
            <a:pPr algn="ctr"/>
            <a:r>
              <a:rPr sz="1250" b="1" i="0">
                <a:solidFill>
                  <a:srgbClr val="FFFFFF"/>
                </a:solidFill>
                <a:latin typeface="Calibri"/>
              </a:rPr>
              <a:t>Q (Consultas)</a:t>
            </a:r>
          </a:p>
        </p:txBody>
      </p:sp>
      <p:sp>
        <p:nvSpPr>
          <p:cNvPr id="12" name="Rectangle 11"/>
          <p:cNvSpPr/>
          <p:nvPr/>
        </p:nvSpPr>
        <p:spPr>
          <a:xfrm>
            <a:off x="3840480" y="1572768"/>
            <a:ext cx="2286000" cy="4754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1572768"/>
            <a:ext cx="2286000" cy="475488"/>
          </a:xfrm>
          <a:prstGeom prst="rect">
            <a:avLst/>
          </a:prstGeom>
          <a:noFill/>
        </p:spPr>
        <p:txBody>
          <a:bodyPr wrap="square">
            <a:spAutoFit/>
          </a:bodyPr>
          <a:lstStyle/>
          <a:p>
            <a:pPr algn="ctr"/>
            <a:r>
              <a:rPr sz="1250" b="1" i="0">
                <a:solidFill>
                  <a:srgbClr val="FFFFFF"/>
                </a:solidFill>
                <a:latin typeface="Calibri"/>
              </a:rPr>
              <a:t>Naive — Consultas</a:t>
            </a:r>
          </a:p>
        </p:txBody>
      </p:sp>
      <p:sp>
        <p:nvSpPr>
          <p:cNvPr id="14" name="Rectangle 13"/>
          <p:cNvSpPr/>
          <p:nvPr/>
        </p:nvSpPr>
        <p:spPr>
          <a:xfrm>
            <a:off x="6172200" y="1572768"/>
            <a:ext cx="2103120" cy="4754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1572768"/>
            <a:ext cx="2103120" cy="475488"/>
          </a:xfrm>
          <a:prstGeom prst="rect">
            <a:avLst/>
          </a:prstGeom>
          <a:noFill/>
        </p:spPr>
        <p:txBody>
          <a:bodyPr wrap="square">
            <a:spAutoFit/>
          </a:bodyPr>
          <a:lstStyle/>
          <a:p>
            <a:pPr algn="ctr"/>
            <a:r>
              <a:rPr sz="1250" b="1" i="0">
                <a:solidFill>
                  <a:srgbClr val="FFFFFF"/>
                </a:solidFill>
                <a:latin typeface="Calibri"/>
              </a:rPr>
              <a:t>Sparse Table</a:t>
            </a:r>
          </a:p>
        </p:txBody>
      </p:sp>
      <p:sp>
        <p:nvSpPr>
          <p:cNvPr id="16" name="Rectangle 15"/>
          <p:cNvSpPr/>
          <p:nvPr/>
        </p:nvSpPr>
        <p:spPr>
          <a:xfrm>
            <a:off x="8321040" y="1572768"/>
            <a:ext cx="1645920" cy="4754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572768"/>
            <a:ext cx="1645920" cy="475488"/>
          </a:xfrm>
          <a:prstGeom prst="rect">
            <a:avLst/>
          </a:prstGeom>
          <a:noFill/>
        </p:spPr>
        <p:txBody>
          <a:bodyPr wrap="square">
            <a:spAutoFit/>
          </a:bodyPr>
          <a:lstStyle/>
          <a:p>
            <a:pPr algn="ctr"/>
            <a:r>
              <a:rPr sz="1250" b="1" i="0">
                <a:solidFill>
                  <a:srgbClr val="FFFFFF"/>
                </a:solidFill>
                <a:latin typeface="Calibri"/>
              </a:rPr>
              <a:t>Speedup</a:t>
            </a:r>
          </a:p>
        </p:txBody>
      </p:sp>
      <p:sp>
        <p:nvSpPr>
          <p:cNvPr id="18" name="Rectangle 17"/>
          <p:cNvSpPr/>
          <p:nvPr/>
        </p:nvSpPr>
        <p:spPr>
          <a:xfrm>
            <a:off x="457200" y="2048256"/>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048256"/>
            <a:ext cx="1645920" cy="475488"/>
          </a:xfrm>
          <a:prstGeom prst="rect">
            <a:avLst/>
          </a:prstGeom>
          <a:noFill/>
        </p:spPr>
        <p:txBody>
          <a:bodyPr wrap="square">
            <a:spAutoFit/>
          </a:bodyPr>
          <a:lstStyle/>
          <a:p>
            <a:pPr algn="ctr"/>
            <a:r>
              <a:rPr sz="1200" b="0" i="0">
                <a:solidFill>
                  <a:srgbClr val="262626"/>
                </a:solidFill>
                <a:latin typeface="Calibri"/>
              </a:rPr>
              <a:t>100</a:t>
            </a:r>
          </a:p>
        </p:txBody>
      </p:sp>
      <p:sp>
        <p:nvSpPr>
          <p:cNvPr id="20" name="Rectangle 19"/>
          <p:cNvSpPr/>
          <p:nvPr/>
        </p:nvSpPr>
        <p:spPr>
          <a:xfrm>
            <a:off x="2148840" y="2048256"/>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48840" y="2048256"/>
            <a:ext cx="1645920" cy="475488"/>
          </a:xfrm>
          <a:prstGeom prst="rect">
            <a:avLst/>
          </a:prstGeom>
          <a:noFill/>
        </p:spPr>
        <p:txBody>
          <a:bodyPr wrap="square">
            <a:spAutoFit/>
          </a:bodyPr>
          <a:lstStyle/>
          <a:p>
            <a:pPr algn="ctr"/>
            <a:r>
              <a:rPr sz="1200" b="0" i="0">
                <a:solidFill>
                  <a:srgbClr val="262626"/>
                </a:solidFill>
                <a:latin typeface="Calibri"/>
              </a:rPr>
              <a:t>1,000</a:t>
            </a:r>
          </a:p>
        </p:txBody>
      </p:sp>
      <p:sp>
        <p:nvSpPr>
          <p:cNvPr id="22" name="Rectangle 21"/>
          <p:cNvSpPr/>
          <p:nvPr/>
        </p:nvSpPr>
        <p:spPr>
          <a:xfrm>
            <a:off x="3840480" y="2048256"/>
            <a:ext cx="228600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0" y="2048256"/>
            <a:ext cx="2286000" cy="475488"/>
          </a:xfrm>
          <a:prstGeom prst="rect">
            <a:avLst/>
          </a:prstGeom>
          <a:noFill/>
        </p:spPr>
        <p:txBody>
          <a:bodyPr wrap="square">
            <a:spAutoFit/>
          </a:bodyPr>
          <a:lstStyle/>
          <a:p>
            <a:pPr algn="ctr"/>
            <a:r>
              <a:rPr sz="1200" b="0" i="0">
                <a:solidFill>
                  <a:srgbClr val="262626"/>
                </a:solidFill>
                <a:latin typeface="Calibri"/>
              </a:rPr>
              <a:t>0.000710 s</a:t>
            </a:r>
          </a:p>
        </p:txBody>
      </p:sp>
      <p:sp>
        <p:nvSpPr>
          <p:cNvPr id="24" name="Rectangle 23"/>
          <p:cNvSpPr/>
          <p:nvPr/>
        </p:nvSpPr>
        <p:spPr>
          <a:xfrm>
            <a:off x="6172200" y="2048256"/>
            <a:ext cx="21031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2048256"/>
            <a:ext cx="2103120" cy="475488"/>
          </a:xfrm>
          <a:prstGeom prst="rect">
            <a:avLst/>
          </a:prstGeom>
          <a:noFill/>
        </p:spPr>
        <p:txBody>
          <a:bodyPr wrap="square">
            <a:spAutoFit/>
          </a:bodyPr>
          <a:lstStyle/>
          <a:p>
            <a:pPr algn="ctr"/>
            <a:r>
              <a:rPr sz="1200" b="0" i="0">
                <a:solidFill>
                  <a:srgbClr val="262626"/>
                </a:solidFill>
                <a:latin typeface="Calibri"/>
              </a:rPr>
              <a:t>0.000239 s</a:t>
            </a:r>
          </a:p>
        </p:txBody>
      </p:sp>
      <p:sp>
        <p:nvSpPr>
          <p:cNvPr id="26" name="Rectangle 25"/>
          <p:cNvSpPr/>
          <p:nvPr/>
        </p:nvSpPr>
        <p:spPr>
          <a:xfrm>
            <a:off x="8321040" y="2048256"/>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2048256"/>
            <a:ext cx="1645920" cy="475488"/>
          </a:xfrm>
          <a:prstGeom prst="rect">
            <a:avLst/>
          </a:prstGeom>
          <a:noFill/>
        </p:spPr>
        <p:txBody>
          <a:bodyPr wrap="square">
            <a:spAutoFit/>
          </a:bodyPr>
          <a:lstStyle/>
          <a:p>
            <a:pPr algn="ctr"/>
            <a:r>
              <a:rPr sz="1200" b="0" i="0">
                <a:solidFill>
                  <a:srgbClr val="606060"/>
                </a:solidFill>
                <a:latin typeface="Calibri"/>
              </a:rPr>
              <a:t>3.0×</a:t>
            </a:r>
          </a:p>
        </p:txBody>
      </p:sp>
      <p:sp>
        <p:nvSpPr>
          <p:cNvPr id="28" name="Rectangle 27"/>
          <p:cNvSpPr/>
          <p:nvPr/>
        </p:nvSpPr>
        <p:spPr>
          <a:xfrm>
            <a:off x="457200" y="2523744"/>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2523744"/>
            <a:ext cx="1645920" cy="475488"/>
          </a:xfrm>
          <a:prstGeom prst="rect">
            <a:avLst/>
          </a:prstGeom>
          <a:noFill/>
        </p:spPr>
        <p:txBody>
          <a:bodyPr wrap="square">
            <a:spAutoFit/>
          </a:bodyPr>
          <a:lstStyle/>
          <a:p>
            <a:pPr algn="ctr"/>
            <a:r>
              <a:rPr sz="1200" b="0" i="0">
                <a:solidFill>
                  <a:srgbClr val="262626"/>
                </a:solidFill>
                <a:latin typeface="Calibri"/>
              </a:rPr>
              <a:t>1,000</a:t>
            </a:r>
          </a:p>
        </p:txBody>
      </p:sp>
      <p:sp>
        <p:nvSpPr>
          <p:cNvPr id="30" name="Rectangle 29"/>
          <p:cNvSpPr/>
          <p:nvPr/>
        </p:nvSpPr>
        <p:spPr>
          <a:xfrm>
            <a:off x="2148840" y="2523744"/>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48840" y="2523744"/>
            <a:ext cx="1645920" cy="475488"/>
          </a:xfrm>
          <a:prstGeom prst="rect">
            <a:avLst/>
          </a:prstGeom>
          <a:noFill/>
        </p:spPr>
        <p:txBody>
          <a:bodyPr wrap="square">
            <a:spAutoFit/>
          </a:bodyPr>
          <a:lstStyle/>
          <a:p>
            <a:pPr algn="ctr"/>
            <a:r>
              <a:rPr sz="1200" b="0" i="0">
                <a:solidFill>
                  <a:srgbClr val="262626"/>
                </a:solidFill>
                <a:latin typeface="Calibri"/>
              </a:rPr>
              <a:t>5,000</a:t>
            </a:r>
          </a:p>
        </p:txBody>
      </p:sp>
      <p:sp>
        <p:nvSpPr>
          <p:cNvPr id="32" name="Rectangle 31"/>
          <p:cNvSpPr/>
          <p:nvPr/>
        </p:nvSpPr>
        <p:spPr>
          <a:xfrm>
            <a:off x="3840480" y="2523744"/>
            <a:ext cx="228600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0" y="2523744"/>
            <a:ext cx="2286000" cy="475488"/>
          </a:xfrm>
          <a:prstGeom prst="rect">
            <a:avLst/>
          </a:prstGeom>
          <a:noFill/>
        </p:spPr>
        <p:txBody>
          <a:bodyPr wrap="square">
            <a:spAutoFit/>
          </a:bodyPr>
          <a:lstStyle/>
          <a:p>
            <a:pPr algn="ctr"/>
            <a:r>
              <a:rPr sz="1200" b="0" i="0">
                <a:solidFill>
                  <a:srgbClr val="262626"/>
                </a:solidFill>
                <a:latin typeface="Calibri"/>
              </a:rPr>
              <a:t>0.028931 s</a:t>
            </a:r>
          </a:p>
        </p:txBody>
      </p:sp>
      <p:sp>
        <p:nvSpPr>
          <p:cNvPr id="34" name="Rectangle 33"/>
          <p:cNvSpPr/>
          <p:nvPr/>
        </p:nvSpPr>
        <p:spPr>
          <a:xfrm>
            <a:off x="6172200" y="2523744"/>
            <a:ext cx="21031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200" y="2523744"/>
            <a:ext cx="2103120" cy="475488"/>
          </a:xfrm>
          <a:prstGeom prst="rect">
            <a:avLst/>
          </a:prstGeom>
          <a:noFill/>
        </p:spPr>
        <p:txBody>
          <a:bodyPr wrap="square">
            <a:spAutoFit/>
          </a:bodyPr>
          <a:lstStyle/>
          <a:p>
            <a:pPr algn="ctr"/>
            <a:r>
              <a:rPr sz="1200" b="0" i="0">
                <a:solidFill>
                  <a:srgbClr val="262626"/>
                </a:solidFill>
                <a:latin typeface="Calibri"/>
              </a:rPr>
              <a:t>0.001299 s</a:t>
            </a:r>
          </a:p>
        </p:txBody>
      </p:sp>
      <p:sp>
        <p:nvSpPr>
          <p:cNvPr id="36" name="Rectangle 35"/>
          <p:cNvSpPr/>
          <p:nvPr/>
        </p:nvSpPr>
        <p:spPr>
          <a:xfrm>
            <a:off x="8321040" y="2523744"/>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2523744"/>
            <a:ext cx="1645920" cy="475488"/>
          </a:xfrm>
          <a:prstGeom prst="rect">
            <a:avLst/>
          </a:prstGeom>
          <a:noFill/>
        </p:spPr>
        <p:txBody>
          <a:bodyPr wrap="square">
            <a:spAutoFit/>
          </a:bodyPr>
          <a:lstStyle/>
          <a:p>
            <a:pPr algn="ctr"/>
            <a:r>
              <a:rPr sz="1200" b="0" i="0">
                <a:solidFill>
                  <a:srgbClr val="606060"/>
                </a:solidFill>
                <a:latin typeface="Calibri"/>
              </a:rPr>
              <a:t>22×</a:t>
            </a:r>
          </a:p>
        </p:txBody>
      </p:sp>
      <p:sp>
        <p:nvSpPr>
          <p:cNvPr id="38" name="Rectangle 37"/>
          <p:cNvSpPr/>
          <p:nvPr/>
        </p:nvSpPr>
        <p:spPr>
          <a:xfrm>
            <a:off x="457200" y="2999232"/>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2999232"/>
            <a:ext cx="1645920" cy="475488"/>
          </a:xfrm>
          <a:prstGeom prst="rect">
            <a:avLst/>
          </a:prstGeom>
          <a:noFill/>
        </p:spPr>
        <p:txBody>
          <a:bodyPr wrap="square">
            <a:spAutoFit/>
          </a:bodyPr>
          <a:lstStyle/>
          <a:p>
            <a:pPr algn="ctr"/>
            <a:r>
              <a:rPr sz="1200" b="0" i="0">
                <a:solidFill>
                  <a:srgbClr val="262626"/>
                </a:solidFill>
                <a:latin typeface="Calibri"/>
              </a:rPr>
              <a:t>5,000</a:t>
            </a:r>
          </a:p>
        </p:txBody>
      </p:sp>
      <p:sp>
        <p:nvSpPr>
          <p:cNvPr id="40" name="Rectangle 39"/>
          <p:cNvSpPr/>
          <p:nvPr/>
        </p:nvSpPr>
        <p:spPr>
          <a:xfrm>
            <a:off x="2148840" y="2999232"/>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48840" y="2999232"/>
            <a:ext cx="1645920" cy="475488"/>
          </a:xfrm>
          <a:prstGeom prst="rect">
            <a:avLst/>
          </a:prstGeom>
          <a:noFill/>
        </p:spPr>
        <p:txBody>
          <a:bodyPr wrap="square">
            <a:spAutoFit/>
          </a:bodyPr>
          <a:lstStyle/>
          <a:p>
            <a:pPr algn="ctr"/>
            <a:r>
              <a:rPr sz="1200" b="0" i="0">
                <a:solidFill>
                  <a:srgbClr val="262626"/>
                </a:solidFill>
                <a:latin typeface="Calibri"/>
              </a:rPr>
              <a:t>10,000</a:t>
            </a:r>
          </a:p>
        </p:txBody>
      </p:sp>
      <p:sp>
        <p:nvSpPr>
          <p:cNvPr id="42" name="Rectangle 41"/>
          <p:cNvSpPr/>
          <p:nvPr/>
        </p:nvSpPr>
        <p:spPr>
          <a:xfrm>
            <a:off x="3840480" y="2999232"/>
            <a:ext cx="228600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40480" y="2999232"/>
            <a:ext cx="2286000" cy="475488"/>
          </a:xfrm>
          <a:prstGeom prst="rect">
            <a:avLst/>
          </a:prstGeom>
          <a:noFill/>
        </p:spPr>
        <p:txBody>
          <a:bodyPr wrap="square">
            <a:spAutoFit/>
          </a:bodyPr>
          <a:lstStyle/>
          <a:p>
            <a:pPr algn="ctr"/>
            <a:r>
              <a:rPr sz="1200" b="0" i="0">
                <a:solidFill>
                  <a:srgbClr val="262626"/>
                </a:solidFill>
                <a:latin typeface="Calibri"/>
              </a:rPr>
              <a:t>0.278195 s</a:t>
            </a:r>
          </a:p>
        </p:txBody>
      </p:sp>
      <p:sp>
        <p:nvSpPr>
          <p:cNvPr id="44" name="Rectangle 43"/>
          <p:cNvSpPr/>
          <p:nvPr/>
        </p:nvSpPr>
        <p:spPr>
          <a:xfrm>
            <a:off x="6172200" y="2999232"/>
            <a:ext cx="21031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72200" y="2999232"/>
            <a:ext cx="2103120" cy="475488"/>
          </a:xfrm>
          <a:prstGeom prst="rect">
            <a:avLst/>
          </a:prstGeom>
          <a:noFill/>
        </p:spPr>
        <p:txBody>
          <a:bodyPr wrap="square">
            <a:spAutoFit/>
          </a:bodyPr>
          <a:lstStyle/>
          <a:p>
            <a:pPr algn="ctr"/>
            <a:r>
              <a:rPr sz="1200" b="0" i="0">
                <a:solidFill>
                  <a:srgbClr val="262626"/>
                </a:solidFill>
                <a:latin typeface="Calibri"/>
              </a:rPr>
              <a:t>0.002953 s</a:t>
            </a:r>
          </a:p>
        </p:txBody>
      </p:sp>
      <p:sp>
        <p:nvSpPr>
          <p:cNvPr id="46" name="Rectangle 45"/>
          <p:cNvSpPr/>
          <p:nvPr/>
        </p:nvSpPr>
        <p:spPr>
          <a:xfrm>
            <a:off x="8321040" y="2999232"/>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40" y="2999232"/>
            <a:ext cx="1645920" cy="475488"/>
          </a:xfrm>
          <a:prstGeom prst="rect">
            <a:avLst/>
          </a:prstGeom>
          <a:noFill/>
        </p:spPr>
        <p:txBody>
          <a:bodyPr wrap="square">
            <a:spAutoFit/>
          </a:bodyPr>
          <a:lstStyle/>
          <a:p>
            <a:pPr algn="ctr"/>
            <a:r>
              <a:rPr sz="1200" b="0" i="0">
                <a:solidFill>
                  <a:srgbClr val="606060"/>
                </a:solidFill>
                <a:latin typeface="Calibri"/>
              </a:rPr>
              <a:t>94×</a:t>
            </a:r>
          </a:p>
        </p:txBody>
      </p:sp>
      <p:sp>
        <p:nvSpPr>
          <p:cNvPr id="48" name="Rectangle 47"/>
          <p:cNvSpPr/>
          <p:nvPr/>
        </p:nvSpPr>
        <p:spPr>
          <a:xfrm>
            <a:off x="457200" y="3474720"/>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474720"/>
            <a:ext cx="1645920" cy="475488"/>
          </a:xfrm>
          <a:prstGeom prst="rect">
            <a:avLst/>
          </a:prstGeom>
          <a:noFill/>
        </p:spPr>
        <p:txBody>
          <a:bodyPr wrap="square">
            <a:spAutoFit/>
          </a:bodyPr>
          <a:lstStyle/>
          <a:p>
            <a:pPr algn="ctr"/>
            <a:r>
              <a:rPr sz="1200" b="0" i="0">
                <a:solidFill>
                  <a:srgbClr val="262626"/>
                </a:solidFill>
                <a:latin typeface="Calibri"/>
              </a:rPr>
              <a:t>10,000</a:t>
            </a:r>
          </a:p>
        </p:txBody>
      </p:sp>
      <p:sp>
        <p:nvSpPr>
          <p:cNvPr id="50" name="Rectangle 49"/>
          <p:cNvSpPr/>
          <p:nvPr/>
        </p:nvSpPr>
        <p:spPr>
          <a:xfrm>
            <a:off x="2148840" y="3474720"/>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148840" y="3474720"/>
            <a:ext cx="1645920" cy="475488"/>
          </a:xfrm>
          <a:prstGeom prst="rect">
            <a:avLst/>
          </a:prstGeom>
          <a:noFill/>
        </p:spPr>
        <p:txBody>
          <a:bodyPr wrap="square">
            <a:spAutoFit/>
          </a:bodyPr>
          <a:lstStyle/>
          <a:p>
            <a:pPr algn="ctr"/>
            <a:r>
              <a:rPr sz="1200" b="0" i="0">
                <a:solidFill>
                  <a:srgbClr val="262626"/>
                </a:solidFill>
                <a:latin typeface="Calibri"/>
              </a:rPr>
              <a:t>20,000</a:t>
            </a:r>
          </a:p>
        </p:txBody>
      </p:sp>
      <p:sp>
        <p:nvSpPr>
          <p:cNvPr id="52" name="Rectangle 51"/>
          <p:cNvSpPr/>
          <p:nvPr/>
        </p:nvSpPr>
        <p:spPr>
          <a:xfrm>
            <a:off x="3840480" y="3474720"/>
            <a:ext cx="228600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0" y="3474720"/>
            <a:ext cx="2286000" cy="475488"/>
          </a:xfrm>
          <a:prstGeom prst="rect">
            <a:avLst/>
          </a:prstGeom>
          <a:noFill/>
        </p:spPr>
        <p:txBody>
          <a:bodyPr wrap="square">
            <a:spAutoFit/>
          </a:bodyPr>
          <a:lstStyle/>
          <a:p>
            <a:pPr algn="ctr"/>
            <a:r>
              <a:rPr sz="1200" b="0" i="0">
                <a:solidFill>
                  <a:srgbClr val="C0392B"/>
                </a:solidFill>
                <a:latin typeface="Calibri"/>
              </a:rPr>
              <a:t>~1.097 s*</a:t>
            </a:r>
          </a:p>
        </p:txBody>
      </p:sp>
      <p:sp>
        <p:nvSpPr>
          <p:cNvPr id="54" name="Rectangle 53"/>
          <p:cNvSpPr/>
          <p:nvPr/>
        </p:nvSpPr>
        <p:spPr>
          <a:xfrm>
            <a:off x="6172200" y="3474720"/>
            <a:ext cx="21031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72200" y="3474720"/>
            <a:ext cx="2103120" cy="475488"/>
          </a:xfrm>
          <a:prstGeom prst="rect">
            <a:avLst/>
          </a:prstGeom>
          <a:noFill/>
        </p:spPr>
        <p:txBody>
          <a:bodyPr wrap="square">
            <a:spAutoFit/>
          </a:bodyPr>
          <a:lstStyle/>
          <a:p>
            <a:pPr algn="ctr"/>
            <a:r>
              <a:rPr sz="1200" b="0" i="0">
                <a:solidFill>
                  <a:srgbClr val="262626"/>
                </a:solidFill>
                <a:latin typeface="Calibri"/>
              </a:rPr>
              <a:t>0.006228 s</a:t>
            </a:r>
          </a:p>
        </p:txBody>
      </p:sp>
      <p:sp>
        <p:nvSpPr>
          <p:cNvPr id="56" name="Rectangle 55"/>
          <p:cNvSpPr/>
          <p:nvPr/>
        </p:nvSpPr>
        <p:spPr>
          <a:xfrm>
            <a:off x="8321040" y="3474720"/>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21040" y="3474720"/>
            <a:ext cx="1645920" cy="475488"/>
          </a:xfrm>
          <a:prstGeom prst="rect">
            <a:avLst/>
          </a:prstGeom>
          <a:noFill/>
        </p:spPr>
        <p:txBody>
          <a:bodyPr wrap="square">
            <a:spAutoFit/>
          </a:bodyPr>
          <a:lstStyle/>
          <a:p>
            <a:pPr algn="ctr"/>
            <a:r>
              <a:rPr sz="1200" b="0" i="0">
                <a:solidFill>
                  <a:srgbClr val="378636"/>
                </a:solidFill>
                <a:latin typeface="Calibri"/>
              </a:rPr>
              <a:t>176×</a:t>
            </a:r>
          </a:p>
        </p:txBody>
      </p:sp>
      <p:sp>
        <p:nvSpPr>
          <p:cNvPr id="58" name="Rectangle 57"/>
          <p:cNvSpPr/>
          <p:nvPr/>
        </p:nvSpPr>
        <p:spPr>
          <a:xfrm>
            <a:off x="457200" y="3950208"/>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50208"/>
            <a:ext cx="1645920" cy="475488"/>
          </a:xfrm>
          <a:prstGeom prst="rect">
            <a:avLst/>
          </a:prstGeom>
          <a:noFill/>
        </p:spPr>
        <p:txBody>
          <a:bodyPr wrap="square">
            <a:spAutoFit/>
          </a:bodyPr>
          <a:lstStyle/>
          <a:p>
            <a:pPr algn="ctr"/>
            <a:r>
              <a:rPr sz="1200" b="0" i="0">
                <a:solidFill>
                  <a:srgbClr val="262626"/>
                </a:solidFill>
                <a:latin typeface="Calibri"/>
              </a:rPr>
              <a:t>100,000</a:t>
            </a:r>
          </a:p>
        </p:txBody>
      </p:sp>
      <p:sp>
        <p:nvSpPr>
          <p:cNvPr id="60" name="Rectangle 59"/>
          <p:cNvSpPr/>
          <p:nvPr/>
        </p:nvSpPr>
        <p:spPr>
          <a:xfrm>
            <a:off x="2148840" y="3950208"/>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148840" y="3950208"/>
            <a:ext cx="1645920" cy="475488"/>
          </a:xfrm>
          <a:prstGeom prst="rect">
            <a:avLst/>
          </a:prstGeom>
          <a:noFill/>
        </p:spPr>
        <p:txBody>
          <a:bodyPr wrap="square">
            <a:spAutoFit/>
          </a:bodyPr>
          <a:lstStyle/>
          <a:p>
            <a:pPr algn="ctr"/>
            <a:r>
              <a:rPr sz="1200" b="0" i="0">
                <a:solidFill>
                  <a:srgbClr val="262626"/>
                </a:solidFill>
                <a:latin typeface="Calibri"/>
              </a:rPr>
              <a:t>100,000</a:t>
            </a:r>
          </a:p>
        </p:txBody>
      </p:sp>
      <p:sp>
        <p:nvSpPr>
          <p:cNvPr id="62" name="Rectangle 61"/>
          <p:cNvSpPr/>
          <p:nvPr/>
        </p:nvSpPr>
        <p:spPr>
          <a:xfrm>
            <a:off x="3840480" y="3950208"/>
            <a:ext cx="228600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40480" y="3950208"/>
            <a:ext cx="2286000" cy="475488"/>
          </a:xfrm>
          <a:prstGeom prst="rect">
            <a:avLst/>
          </a:prstGeom>
          <a:noFill/>
        </p:spPr>
        <p:txBody>
          <a:bodyPr wrap="square">
            <a:spAutoFit/>
          </a:bodyPr>
          <a:lstStyle/>
          <a:p>
            <a:pPr algn="ctr"/>
            <a:r>
              <a:rPr sz="1200" b="0" i="0">
                <a:solidFill>
                  <a:srgbClr val="C0392B"/>
                </a:solidFill>
                <a:latin typeface="Calibri"/>
              </a:rPr>
              <a:t>~56.85 s*</a:t>
            </a:r>
          </a:p>
        </p:txBody>
      </p:sp>
      <p:sp>
        <p:nvSpPr>
          <p:cNvPr id="64" name="Rectangle 63"/>
          <p:cNvSpPr/>
          <p:nvPr/>
        </p:nvSpPr>
        <p:spPr>
          <a:xfrm>
            <a:off x="6172200" y="3950208"/>
            <a:ext cx="21031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172200" y="3950208"/>
            <a:ext cx="2103120" cy="475488"/>
          </a:xfrm>
          <a:prstGeom prst="rect">
            <a:avLst/>
          </a:prstGeom>
          <a:noFill/>
        </p:spPr>
        <p:txBody>
          <a:bodyPr wrap="square">
            <a:spAutoFit/>
          </a:bodyPr>
          <a:lstStyle/>
          <a:p>
            <a:pPr algn="ctr"/>
            <a:r>
              <a:rPr sz="1200" b="0" i="0">
                <a:solidFill>
                  <a:srgbClr val="262626"/>
                </a:solidFill>
                <a:latin typeface="Calibri"/>
              </a:rPr>
              <a:t>0.064673 s</a:t>
            </a:r>
          </a:p>
        </p:txBody>
      </p:sp>
      <p:sp>
        <p:nvSpPr>
          <p:cNvPr id="66" name="Rectangle 65"/>
          <p:cNvSpPr/>
          <p:nvPr/>
        </p:nvSpPr>
        <p:spPr>
          <a:xfrm>
            <a:off x="8321040" y="3950208"/>
            <a:ext cx="1645920" cy="475488"/>
          </a:xfrm>
          <a:prstGeom prst="rect">
            <a:avLst/>
          </a:prstGeom>
          <a:solidFill>
            <a:srgbClr val="F0F6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21040" y="3950208"/>
            <a:ext cx="1645920" cy="475488"/>
          </a:xfrm>
          <a:prstGeom prst="rect">
            <a:avLst/>
          </a:prstGeom>
          <a:noFill/>
        </p:spPr>
        <p:txBody>
          <a:bodyPr wrap="square">
            <a:spAutoFit/>
          </a:bodyPr>
          <a:lstStyle/>
          <a:p>
            <a:pPr algn="ctr"/>
            <a:r>
              <a:rPr sz="1200" b="0" i="0">
                <a:solidFill>
                  <a:srgbClr val="378636"/>
                </a:solidFill>
                <a:latin typeface="Calibri"/>
              </a:rPr>
              <a:t>879×</a:t>
            </a:r>
          </a:p>
        </p:txBody>
      </p:sp>
      <p:sp>
        <p:nvSpPr>
          <p:cNvPr id="68" name="Rectangle 67"/>
          <p:cNvSpPr/>
          <p:nvPr/>
        </p:nvSpPr>
        <p:spPr>
          <a:xfrm>
            <a:off x="457200" y="4425696"/>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4425696"/>
            <a:ext cx="1645920" cy="475488"/>
          </a:xfrm>
          <a:prstGeom prst="rect">
            <a:avLst/>
          </a:prstGeom>
          <a:noFill/>
        </p:spPr>
        <p:txBody>
          <a:bodyPr wrap="square">
            <a:spAutoFit/>
          </a:bodyPr>
          <a:lstStyle/>
          <a:p>
            <a:pPr algn="ctr"/>
            <a:r>
              <a:rPr sz="1200" b="0" i="0">
                <a:solidFill>
                  <a:srgbClr val="262626"/>
                </a:solidFill>
                <a:latin typeface="Calibri"/>
              </a:rPr>
              <a:t>500,000</a:t>
            </a:r>
          </a:p>
        </p:txBody>
      </p:sp>
      <p:sp>
        <p:nvSpPr>
          <p:cNvPr id="70" name="Rectangle 69"/>
          <p:cNvSpPr/>
          <p:nvPr/>
        </p:nvSpPr>
        <p:spPr>
          <a:xfrm>
            <a:off x="2148840" y="4425696"/>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148840" y="4425696"/>
            <a:ext cx="1645920" cy="475488"/>
          </a:xfrm>
          <a:prstGeom prst="rect">
            <a:avLst/>
          </a:prstGeom>
          <a:noFill/>
        </p:spPr>
        <p:txBody>
          <a:bodyPr wrap="square">
            <a:spAutoFit/>
          </a:bodyPr>
          <a:lstStyle/>
          <a:p>
            <a:pPr algn="ctr"/>
            <a:r>
              <a:rPr sz="1200" b="0" i="0">
                <a:solidFill>
                  <a:srgbClr val="262626"/>
                </a:solidFill>
                <a:latin typeface="Calibri"/>
              </a:rPr>
              <a:t>1,000,000</a:t>
            </a:r>
          </a:p>
        </p:txBody>
      </p:sp>
      <p:sp>
        <p:nvSpPr>
          <p:cNvPr id="72" name="Rectangle 71"/>
          <p:cNvSpPr/>
          <p:nvPr/>
        </p:nvSpPr>
        <p:spPr>
          <a:xfrm>
            <a:off x="3840480" y="4425696"/>
            <a:ext cx="228600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40480" y="4425696"/>
            <a:ext cx="2286000" cy="475488"/>
          </a:xfrm>
          <a:prstGeom prst="rect">
            <a:avLst/>
          </a:prstGeom>
          <a:noFill/>
        </p:spPr>
        <p:txBody>
          <a:bodyPr wrap="square">
            <a:spAutoFit/>
          </a:bodyPr>
          <a:lstStyle/>
          <a:p>
            <a:pPr algn="ctr"/>
            <a:r>
              <a:rPr sz="1200" b="0" i="0">
                <a:solidFill>
                  <a:srgbClr val="C0392B"/>
                </a:solidFill>
                <a:latin typeface="Calibri"/>
              </a:rPr>
              <a:t>~51 minutos*</a:t>
            </a:r>
          </a:p>
        </p:txBody>
      </p:sp>
      <p:sp>
        <p:nvSpPr>
          <p:cNvPr id="74" name="Rectangle 73"/>
          <p:cNvSpPr/>
          <p:nvPr/>
        </p:nvSpPr>
        <p:spPr>
          <a:xfrm>
            <a:off x="6172200" y="4425696"/>
            <a:ext cx="21031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172200" y="4425696"/>
            <a:ext cx="2103120" cy="475488"/>
          </a:xfrm>
          <a:prstGeom prst="rect">
            <a:avLst/>
          </a:prstGeom>
          <a:noFill/>
        </p:spPr>
        <p:txBody>
          <a:bodyPr wrap="square">
            <a:spAutoFit/>
          </a:bodyPr>
          <a:lstStyle/>
          <a:p>
            <a:pPr algn="ctr"/>
            <a:r>
              <a:rPr sz="1200" b="0" i="0">
                <a:solidFill>
                  <a:srgbClr val="262626"/>
                </a:solidFill>
                <a:latin typeface="Calibri"/>
              </a:rPr>
              <a:t>0.829445 s</a:t>
            </a:r>
          </a:p>
        </p:txBody>
      </p:sp>
      <p:sp>
        <p:nvSpPr>
          <p:cNvPr id="76" name="Rectangle 75"/>
          <p:cNvSpPr/>
          <p:nvPr/>
        </p:nvSpPr>
        <p:spPr>
          <a:xfrm>
            <a:off x="8321040" y="4425696"/>
            <a:ext cx="1645920" cy="475488"/>
          </a:xfrm>
          <a:prstGeom prst="rect">
            <a:avLst/>
          </a:prstGeom>
          <a:solidFill>
            <a:srgbClr val="FFFFFF"/>
          </a:solidFill>
          <a:ln w="6350">
            <a:solidFill>
              <a:srgbClr val="BDD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321040" y="4425696"/>
            <a:ext cx="1645920" cy="475488"/>
          </a:xfrm>
          <a:prstGeom prst="rect">
            <a:avLst/>
          </a:prstGeom>
          <a:noFill/>
        </p:spPr>
        <p:txBody>
          <a:bodyPr wrap="square">
            <a:spAutoFit/>
          </a:bodyPr>
          <a:lstStyle/>
          <a:p>
            <a:pPr algn="ctr"/>
            <a:r>
              <a:rPr sz="1200" b="1" i="0">
                <a:solidFill>
                  <a:srgbClr val="378636"/>
                </a:solidFill>
                <a:latin typeface="Calibri"/>
              </a:rPr>
              <a:t>3,743×</a:t>
            </a:r>
          </a:p>
        </p:txBody>
      </p:sp>
      <p:sp>
        <p:nvSpPr>
          <p:cNvPr id="78" name="TextBox 77"/>
          <p:cNvSpPr txBox="1"/>
          <p:nvPr/>
        </p:nvSpPr>
        <p:spPr>
          <a:xfrm>
            <a:off x="457200" y="4572000"/>
            <a:ext cx="8686800" cy="320040"/>
          </a:xfrm>
          <a:prstGeom prst="rect">
            <a:avLst/>
          </a:prstGeom>
          <a:noFill/>
        </p:spPr>
        <p:txBody>
          <a:bodyPr wrap="square">
            <a:spAutoFit/>
          </a:bodyPr>
          <a:lstStyle/>
          <a:p>
            <a:pPr algn="l"/>
            <a:r>
              <a:rPr sz="1000" b="0" i="1">
                <a:solidFill>
                  <a:srgbClr val="606060"/>
                </a:solidFill>
                <a:latin typeface="Calibri"/>
              </a:rPr>
              <a:t>* Valor estimado por proyección estadística (muestra de 200 consultas)</a:t>
            </a:r>
          </a:p>
        </p:txBody>
      </p:sp>
      <p:sp>
        <p:nvSpPr>
          <p:cNvPr id="79" name="Rectangle 78"/>
          <p:cNvSpPr/>
          <p:nvPr/>
        </p:nvSpPr>
        <p:spPr>
          <a:xfrm>
            <a:off x="9235440" y="4160520"/>
            <a:ext cx="2560320" cy="1783080"/>
          </a:xfrm>
          <a:prstGeom prst="rect">
            <a:avLst/>
          </a:prstGeom>
          <a:solidFill>
            <a:srgbClr val="378636"/>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35440" y="4206240"/>
            <a:ext cx="2560320" cy="594360"/>
          </a:xfrm>
          <a:prstGeom prst="rect">
            <a:avLst/>
          </a:prstGeom>
          <a:noFill/>
        </p:spPr>
        <p:txBody>
          <a:bodyPr wrap="square">
            <a:spAutoFit/>
          </a:bodyPr>
          <a:lstStyle/>
          <a:p>
            <a:pPr algn="ctr"/>
            <a:r>
              <a:rPr sz="1400" b="1" i="0">
                <a:solidFill>
                  <a:srgbClr val="FFFFFF"/>
                </a:solidFill>
                <a:latin typeface="Calibri"/>
              </a:rPr>
              <a:t>SPEEDUP
MÁXIMO</a:t>
            </a:r>
          </a:p>
        </p:txBody>
      </p:sp>
      <p:sp>
        <p:nvSpPr>
          <p:cNvPr id="81" name="TextBox 80"/>
          <p:cNvSpPr txBox="1"/>
          <p:nvPr/>
        </p:nvSpPr>
        <p:spPr>
          <a:xfrm>
            <a:off x="9235440" y="4754880"/>
            <a:ext cx="2560320" cy="731520"/>
          </a:xfrm>
          <a:prstGeom prst="rect">
            <a:avLst/>
          </a:prstGeom>
          <a:noFill/>
        </p:spPr>
        <p:txBody>
          <a:bodyPr wrap="square">
            <a:spAutoFit/>
          </a:bodyPr>
          <a:lstStyle/>
          <a:p>
            <a:pPr algn="ctr"/>
            <a:r>
              <a:rPr sz="3000" b="1" i="0">
                <a:solidFill>
                  <a:srgbClr val="FFC000"/>
                </a:solidFill>
                <a:latin typeface="Calibri"/>
              </a:rPr>
              <a:t>3,743×</a:t>
            </a:r>
          </a:p>
        </p:txBody>
      </p:sp>
      <p:sp>
        <p:nvSpPr>
          <p:cNvPr id="82" name="TextBox 81"/>
          <p:cNvSpPr txBox="1"/>
          <p:nvPr/>
        </p:nvSpPr>
        <p:spPr>
          <a:xfrm>
            <a:off x="457200" y="4983480"/>
            <a:ext cx="11704320" cy="457200"/>
          </a:xfrm>
          <a:prstGeom prst="rect">
            <a:avLst/>
          </a:prstGeom>
          <a:noFill/>
        </p:spPr>
        <p:txBody>
          <a:bodyPr wrap="square">
            <a:spAutoFit/>
          </a:bodyPr>
          <a:lstStyle/>
          <a:p>
            <a:pPr algn="l"/>
            <a:r>
              <a:rPr sz="1250" b="1" i="0">
                <a:solidFill>
                  <a:srgbClr val="378636"/>
                </a:solidFill>
                <a:latin typeface="Calibri"/>
              </a:rPr>
              <a:t>✓  Las pruebas de corrección pasaron al 100%  (50 casos aleatorios, arreglos hasta 1,000 elementos)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
            <a:ext cx="10972800" cy="777240"/>
          </a:xfrm>
          <a:prstGeom prst="rect">
            <a:avLst/>
          </a:prstGeom>
          <a:noFill/>
        </p:spPr>
        <p:txBody>
          <a:bodyPr wrap="square">
            <a:spAutoFit/>
          </a:bodyPr>
          <a:lstStyle/>
          <a:p>
            <a:pPr algn="l"/>
            <a:r>
              <a:rPr sz="2800" b="1" i="0">
                <a:solidFill>
                  <a:srgbClr val="FFFFFF"/>
                </a:solidFill>
                <a:latin typeface="Calibri"/>
              </a:rPr>
              <a:t>6.  Aplicaciones Reales en la Industria</a:t>
            </a:r>
          </a:p>
        </p:txBody>
      </p:sp>
      <p:sp>
        <p:nvSpPr>
          <p:cNvPr id="6" name="TextBox 5"/>
          <p:cNvSpPr txBox="1"/>
          <p:nvPr/>
        </p:nvSpPr>
        <p:spPr>
          <a:xfrm>
            <a:off x="10515600" y="228600"/>
            <a:ext cx="1463040" cy="548640"/>
          </a:xfrm>
          <a:prstGeom prst="rect">
            <a:avLst/>
          </a:prstGeom>
          <a:noFill/>
        </p:spPr>
        <p:txBody>
          <a:bodyPr wrap="square">
            <a:spAutoFit/>
          </a:bodyPr>
          <a:lstStyle/>
          <a:p>
            <a:pPr algn="r"/>
            <a:r>
              <a:rPr sz="1300" b="0" i="0">
                <a:solidFill>
                  <a:srgbClr val="FFC000"/>
                </a:solidFill>
                <a:latin typeface="Calibri"/>
              </a:rPr>
              <a:t>07 / 08</a:t>
            </a:r>
          </a:p>
        </p:txBody>
      </p:sp>
      <p:sp>
        <p:nvSpPr>
          <p:cNvPr id="7" name="Rectangle 6"/>
          <p:cNvSpPr/>
          <p:nvPr/>
        </p:nvSpPr>
        <p:spPr>
          <a:xfrm>
            <a:off x="457200" y="1280160"/>
            <a:ext cx="11247120" cy="1664208"/>
          </a:xfrm>
          <a:prstGeom prst="rect">
            <a:avLst/>
          </a:prstGeom>
          <a:solidFill>
            <a:srgbClr val="FFFFFF"/>
          </a:solidFill>
          <a:ln w="254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554480"/>
            <a:ext cx="822960" cy="822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36192"/>
            <a:ext cx="822960" cy="822960"/>
          </a:xfrm>
          <a:prstGeom prst="rect">
            <a:avLst/>
          </a:prstGeom>
          <a:noFill/>
        </p:spPr>
        <p:txBody>
          <a:bodyPr wrap="square">
            <a:spAutoFit/>
          </a:bodyPr>
          <a:lstStyle/>
          <a:p>
            <a:pPr algn="ctr"/>
            <a:r>
              <a:rPr sz="2200" b="0" i="0">
                <a:solidFill>
                  <a:srgbClr val="262626"/>
                </a:solidFill>
                <a:latin typeface="Calibri"/>
              </a:rPr>
              <a:t>🗄️</a:t>
            </a:r>
          </a:p>
        </p:txBody>
      </p:sp>
      <p:sp>
        <p:nvSpPr>
          <p:cNvPr id="10" name="TextBox 9"/>
          <p:cNvSpPr txBox="1"/>
          <p:nvPr/>
        </p:nvSpPr>
        <p:spPr>
          <a:xfrm>
            <a:off x="1600200" y="1353312"/>
            <a:ext cx="5029200" cy="438912"/>
          </a:xfrm>
          <a:prstGeom prst="rect">
            <a:avLst/>
          </a:prstGeom>
          <a:noFill/>
        </p:spPr>
        <p:txBody>
          <a:bodyPr wrap="square">
            <a:spAutoFit/>
          </a:bodyPr>
          <a:lstStyle/>
          <a:p>
            <a:pPr algn="l"/>
            <a:r>
              <a:rPr sz="1600" b="1" i="0">
                <a:solidFill>
                  <a:srgbClr val="1F4E79"/>
                </a:solidFill>
                <a:latin typeface="Calibri"/>
              </a:rPr>
              <a:t>Bases de Datos Jerárquicas</a:t>
            </a:r>
          </a:p>
        </p:txBody>
      </p:sp>
      <p:sp>
        <p:nvSpPr>
          <p:cNvPr id="11" name="TextBox 10"/>
          <p:cNvSpPr txBox="1"/>
          <p:nvPr/>
        </p:nvSpPr>
        <p:spPr>
          <a:xfrm>
            <a:off x="1600200" y="1755648"/>
            <a:ext cx="5029200" cy="320040"/>
          </a:xfrm>
          <a:prstGeom prst="rect">
            <a:avLst/>
          </a:prstGeom>
          <a:noFill/>
        </p:spPr>
        <p:txBody>
          <a:bodyPr wrap="square">
            <a:spAutoFit/>
          </a:bodyPr>
          <a:lstStyle/>
          <a:p>
            <a:pPr algn="l"/>
            <a:r>
              <a:rPr sz="1250" b="0" i="1">
                <a:solidFill>
                  <a:srgbClr val="606060"/>
                </a:solidFill>
                <a:latin typeface="Calibri"/>
              </a:rPr>
              <a:t>LCA (Lowest Common Ancestor)</a:t>
            </a:r>
          </a:p>
        </p:txBody>
      </p:sp>
      <p:sp>
        <p:nvSpPr>
          <p:cNvPr id="12" name="TextBox 11"/>
          <p:cNvSpPr txBox="1"/>
          <p:nvPr/>
        </p:nvSpPr>
        <p:spPr>
          <a:xfrm>
            <a:off x="1600200" y="2084831"/>
            <a:ext cx="9875520" cy="804672"/>
          </a:xfrm>
          <a:prstGeom prst="rect">
            <a:avLst/>
          </a:prstGeom>
          <a:noFill/>
        </p:spPr>
        <p:txBody>
          <a:bodyPr wrap="square">
            <a:spAutoFit/>
          </a:bodyPr>
          <a:lstStyle/>
          <a:p>
            <a:pPr algn="l"/>
            <a:r>
              <a:rPr sz="1250" b="0" i="0">
                <a:solidFill>
                  <a:srgbClr val="262626"/>
                </a:solidFill>
                <a:latin typeface="Calibri"/>
              </a:rPr>
              <a:t>El problema de encontrar el Ancestro Común más Bajo en un árbol se reduce
a RMQ mediante el recorrido de Euler. Respuestas en O(1) en motores de
bases de datos XML, JSON y grafos empresariales.</a:t>
            </a:r>
          </a:p>
        </p:txBody>
      </p:sp>
      <p:sp>
        <p:nvSpPr>
          <p:cNvPr id="13" name="Rectangle 12"/>
          <p:cNvSpPr/>
          <p:nvPr/>
        </p:nvSpPr>
        <p:spPr>
          <a:xfrm>
            <a:off x="457200" y="3063239"/>
            <a:ext cx="11247120" cy="1664208"/>
          </a:xfrm>
          <a:prstGeom prst="rect">
            <a:avLst/>
          </a:prstGeom>
          <a:solidFill>
            <a:srgbClr val="FFFFFF"/>
          </a:solidFill>
          <a:ln w="25400">
            <a:solidFill>
              <a:srgbClr val="1E6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337559"/>
            <a:ext cx="822960" cy="822960"/>
          </a:xfrm>
          <a:prstGeom prst="rect">
            <a:avLst/>
          </a:prstGeom>
          <a:solidFill>
            <a:srgbClr val="1E6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319272"/>
            <a:ext cx="822960" cy="822960"/>
          </a:xfrm>
          <a:prstGeom prst="rect">
            <a:avLst/>
          </a:prstGeom>
          <a:noFill/>
        </p:spPr>
        <p:txBody>
          <a:bodyPr wrap="square">
            <a:spAutoFit/>
          </a:bodyPr>
          <a:lstStyle/>
          <a:p>
            <a:pPr algn="ctr"/>
            <a:r>
              <a:rPr sz="2200" b="0" i="0">
                <a:solidFill>
                  <a:srgbClr val="262626"/>
                </a:solidFill>
                <a:latin typeface="Calibri"/>
              </a:rPr>
              <a:t>🧬</a:t>
            </a:r>
          </a:p>
        </p:txBody>
      </p:sp>
      <p:sp>
        <p:nvSpPr>
          <p:cNvPr id="16" name="TextBox 15"/>
          <p:cNvSpPr txBox="1"/>
          <p:nvPr/>
        </p:nvSpPr>
        <p:spPr>
          <a:xfrm>
            <a:off x="1600200" y="3136391"/>
            <a:ext cx="5029200" cy="438912"/>
          </a:xfrm>
          <a:prstGeom prst="rect">
            <a:avLst/>
          </a:prstGeom>
          <a:noFill/>
        </p:spPr>
        <p:txBody>
          <a:bodyPr wrap="square">
            <a:spAutoFit/>
          </a:bodyPr>
          <a:lstStyle/>
          <a:p>
            <a:pPr algn="l"/>
            <a:r>
              <a:rPr sz="1600" b="1" i="0">
                <a:solidFill>
                  <a:srgbClr val="1E663D"/>
                </a:solidFill>
                <a:latin typeface="Calibri"/>
              </a:rPr>
              <a:t>Bioinformática</a:t>
            </a:r>
          </a:p>
        </p:txBody>
      </p:sp>
      <p:sp>
        <p:nvSpPr>
          <p:cNvPr id="17" name="TextBox 16"/>
          <p:cNvSpPr txBox="1"/>
          <p:nvPr/>
        </p:nvSpPr>
        <p:spPr>
          <a:xfrm>
            <a:off x="1600200" y="3538727"/>
            <a:ext cx="5029200" cy="320040"/>
          </a:xfrm>
          <a:prstGeom prst="rect">
            <a:avLst/>
          </a:prstGeom>
          <a:noFill/>
        </p:spPr>
        <p:txBody>
          <a:bodyPr wrap="square">
            <a:spAutoFit/>
          </a:bodyPr>
          <a:lstStyle/>
          <a:p>
            <a:pPr algn="l"/>
            <a:r>
              <a:rPr sz="1250" b="0" i="1">
                <a:solidFill>
                  <a:srgbClr val="606060"/>
                </a:solidFill>
                <a:latin typeface="Calibri"/>
              </a:rPr>
              <a:t>LCP sobre Suffix Arrays</a:t>
            </a:r>
          </a:p>
        </p:txBody>
      </p:sp>
      <p:sp>
        <p:nvSpPr>
          <p:cNvPr id="18" name="TextBox 17"/>
          <p:cNvSpPr txBox="1"/>
          <p:nvPr/>
        </p:nvSpPr>
        <p:spPr>
          <a:xfrm>
            <a:off x="1600200" y="3867911"/>
            <a:ext cx="9875520" cy="804672"/>
          </a:xfrm>
          <a:prstGeom prst="rect">
            <a:avLst/>
          </a:prstGeom>
          <a:noFill/>
        </p:spPr>
        <p:txBody>
          <a:bodyPr wrap="square">
            <a:spAutoFit/>
          </a:bodyPr>
          <a:lstStyle/>
          <a:p>
            <a:pPr algn="l"/>
            <a:r>
              <a:rPr sz="1250" b="0" i="0">
                <a:solidFill>
                  <a:srgbClr val="262626"/>
                </a:solidFill>
                <a:latin typeface="Calibri"/>
              </a:rPr>
              <a:t>El Prefijo Común más Largo (LCP) entre sufijos de cadenas de ADN se resuelve
vía RMQ sobre el arreglo LCP. Utilizado en alineadores genómicos (BWA, Bowtie)
para procesar millones de lecturas de ADN por segundo.</a:t>
            </a:r>
          </a:p>
        </p:txBody>
      </p:sp>
      <p:sp>
        <p:nvSpPr>
          <p:cNvPr id="19" name="Rectangle 18"/>
          <p:cNvSpPr/>
          <p:nvPr/>
        </p:nvSpPr>
        <p:spPr>
          <a:xfrm>
            <a:off x="457200" y="4846320"/>
            <a:ext cx="11247120" cy="1664208"/>
          </a:xfrm>
          <a:prstGeom prst="rect">
            <a:avLst/>
          </a:prstGeom>
          <a:solidFill>
            <a:srgbClr val="FFFFFF"/>
          </a:solidFill>
          <a:ln w="25400">
            <a:solidFill>
              <a:srgbClr val="6A0D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 y="5120640"/>
            <a:ext cx="822960" cy="822960"/>
          </a:xfrm>
          <a:prstGeom prst="rect">
            <a:avLst/>
          </a:prstGeom>
          <a:solidFill>
            <a:srgbClr val="6A0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102352"/>
            <a:ext cx="822960" cy="822960"/>
          </a:xfrm>
          <a:prstGeom prst="rect">
            <a:avLst/>
          </a:prstGeom>
          <a:noFill/>
        </p:spPr>
        <p:txBody>
          <a:bodyPr wrap="square">
            <a:spAutoFit/>
          </a:bodyPr>
          <a:lstStyle/>
          <a:p>
            <a:pPr algn="ctr"/>
            <a:r>
              <a:rPr sz="2200" b="0" i="0">
                <a:solidFill>
                  <a:srgbClr val="262626"/>
                </a:solidFill>
                <a:latin typeface="Calibri"/>
              </a:rPr>
              <a:t>🌐</a:t>
            </a:r>
          </a:p>
        </p:txBody>
      </p:sp>
      <p:sp>
        <p:nvSpPr>
          <p:cNvPr id="22" name="TextBox 21"/>
          <p:cNvSpPr txBox="1"/>
          <p:nvPr/>
        </p:nvSpPr>
        <p:spPr>
          <a:xfrm>
            <a:off x="1600200" y="4919472"/>
            <a:ext cx="5029200" cy="438912"/>
          </a:xfrm>
          <a:prstGeom prst="rect">
            <a:avLst/>
          </a:prstGeom>
          <a:noFill/>
        </p:spPr>
        <p:txBody>
          <a:bodyPr wrap="square">
            <a:spAutoFit/>
          </a:bodyPr>
          <a:lstStyle/>
          <a:p>
            <a:pPr algn="l"/>
            <a:r>
              <a:rPr sz="1600" b="1" i="0">
                <a:solidFill>
                  <a:srgbClr val="6A0D72"/>
                </a:solidFill>
                <a:latin typeface="Calibri"/>
              </a:rPr>
              <a:t>Redes y Enrutamiento IP</a:t>
            </a:r>
          </a:p>
        </p:txBody>
      </p:sp>
      <p:sp>
        <p:nvSpPr>
          <p:cNvPr id="23" name="TextBox 22"/>
          <p:cNvSpPr txBox="1"/>
          <p:nvPr/>
        </p:nvSpPr>
        <p:spPr>
          <a:xfrm>
            <a:off x="1600200" y="5321808"/>
            <a:ext cx="5029200" cy="320040"/>
          </a:xfrm>
          <a:prstGeom prst="rect">
            <a:avLst/>
          </a:prstGeom>
          <a:noFill/>
        </p:spPr>
        <p:txBody>
          <a:bodyPr wrap="square">
            <a:spAutoFit/>
          </a:bodyPr>
          <a:lstStyle/>
          <a:p>
            <a:pPr algn="l"/>
            <a:r>
              <a:rPr sz="1250" b="0" i="1">
                <a:solidFill>
                  <a:srgbClr val="606060"/>
                </a:solidFill>
                <a:latin typeface="Calibri"/>
              </a:rPr>
              <a:t>Longest Prefix Match</a:t>
            </a:r>
          </a:p>
        </p:txBody>
      </p:sp>
      <p:sp>
        <p:nvSpPr>
          <p:cNvPr id="24" name="TextBox 23"/>
          <p:cNvSpPr txBox="1"/>
          <p:nvPr/>
        </p:nvSpPr>
        <p:spPr>
          <a:xfrm>
            <a:off x="1600200" y="5650992"/>
            <a:ext cx="9875520" cy="804672"/>
          </a:xfrm>
          <a:prstGeom prst="rect">
            <a:avLst/>
          </a:prstGeom>
          <a:noFill/>
        </p:spPr>
        <p:txBody>
          <a:bodyPr wrap="square">
            <a:spAutoFit/>
          </a:bodyPr>
          <a:lstStyle/>
          <a:p>
            <a:pPr algn="l"/>
            <a:r>
              <a:rPr sz="1250" b="0" i="0">
                <a:solidFill>
                  <a:srgbClr val="262626"/>
                </a:solidFill>
                <a:latin typeface="Calibri"/>
              </a:rPr>
              <a:t>Los enrutadores de alta velocidad buscan coincidencias de prefijo más largo
en tablas con millones de entradas. Estructuras basadas en RMQ permiten
tomar decisiones de enrutamiento a velocidades de gigabits por segundo.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0"/>
            <a:ext cx="731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274320"/>
            <a:ext cx="1463040" cy="548640"/>
          </a:xfrm>
          <a:prstGeom prst="rect">
            <a:avLst/>
          </a:prstGeom>
          <a:noFill/>
        </p:spPr>
        <p:txBody>
          <a:bodyPr wrap="square">
            <a:spAutoFit/>
          </a:bodyPr>
          <a:lstStyle/>
          <a:p>
            <a:pPr algn="r"/>
            <a:r>
              <a:rPr sz="1300" b="0" i="0">
                <a:solidFill>
                  <a:srgbClr val="FFC000"/>
                </a:solidFill>
                <a:latin typeface="Calibri"/>
              </a:rPr>
              <a:t>08 / 08</a:t>
            </a:r>
          </a:p>
        </p:txBody>
      </p:sp>
      <p:sp>
        <p:nvSpPr>
          <p:cNvPr id="6" name="TextBox 5"/>
          <p:cNvSpPr txBox="1"/>
          <p:nvPr/>
        </p:nvSpPr>
        <p:spPr>
          <a:xfrm>
            <a:off x="685800" y="457200"/>
            <a:ext cx="10058400" cy="822960"/>
          </a:xfrm>
          <a:prstGeom prst="rect">
            <a:avLst/>
          </a:prstGeom>
          <a:noFill/>
        </p:spPr>
        <p:txBody>
          <a:bodyPr wrap="square">
            <a:spAutoFit/>
          </a:bodyPr>
          <a:lstStyle/>
          <a:p>
            <a:pPr algn="l"/>
            <a:r>
              <a:rPr sz="3400" b="1" i="0">
                <a:solidFill>
                  <a:srgbClr val="FFFFFF"/>
                </a:solidFill>
                <a:latin typeface="Calibri"/>
              </a:rPr>
              <a:t>Conclusiones</a:t>
            </a:r>
          </a:p>
        </p:txBody>
      </p:sp>
      <p:sp>
        <p:nvSpPr>
          <p:cNvPr id="7" name="Rectangle 6"/>
          <p:cNvSpPr/>
          <p:nvPr/>
        </p:nvSpPr>
        <p:spPr>
          <a:xfrm>
            <a:off x="685800" y="1325880"/>
            <a:ext cx="9601200" cy="54864"/>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508760"/>
            <a:ext cx="10515600" cy="1143000"/>
          </a:xfrm>
          <a:prstGeom prst="rect">
            <a:avLst/>
          </a:prstGeom>
          <a:solidFill>
            <a:srgbClr val="173A60"/>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09928"/>
            <a:ext cx="640080" cy="640080"/>
          </a:xfrm>
          <a:prstGeom prst="rect">
            <a:avLst/>
          </a:prstGeom>
          <a:noFill/>
        </p:spPr>
        <p:txBody>
          <a:bodyPr wrap="square">
            <a:spAutoFit/>
          </a:bodyPr>
          <a:lstStyle/>
          <a:p>
            <a:pPr algn="ctr"/>
            <a:r>
              <a:rPr sz="2000" b="0" i="0">
                <a:solidFill>
                  <a:srgbClr val="262626"/>
                </a:solidFill>
                <a:latin typeface="Calibri"/>
              </a:rPr>
              <a:t>🔁</a:t>
            </a:r>
          </a:p>
        </p:txBody>
      </p:sp>
      <p:sp>
        <p:nvSpPr>
          <p:cNvPr id="10" name="TextBox 9"/>
          <p:cNvSpPr txBox="1"/>
          <p:nvPr/>
        </p:nvSpPr>
        <p:spPr>
          <a:xfrm>
            <a:off x="1508760" y="1581912"/>
            <a:ext cx="9418320" cy="384048"/>
          </a:xfrm>
          <a:prstGeom prst="rect">
            <a:avLst/>
          </a:prstGeom>
          <a:noFill/>
        </p:spPr>
        <p:txBody>
          <a:bodyPr wrap="square">
            <a:spAutoFit/>
          </a:bodyPr>
          <a:lstStyle/>
          <a:p>
            <a:pPr algn="l"/>
            <a:r>
              <a:rPr sz="1500" b="1" i="0">
                <a:solidFill>
                  <a:srgbClr val="FFC000"/>
                </a:solidFill>
                <a:latin typeface="Calibri"/>
              </a:rPr>
              <a:t>Trade-off inteligente</a:t>
            </a:r>
          </a:p>
        </p:txBody>
      </p:sp>
      <p:sp>
        <p:nvSpPr>
          <p:cNvPr id="11" name="TextBox 10"/>
          <p:cNvSpPr txBox="1"/>
          <p:nvPr/>
        </p:nvSpPr>
        <p:spPr>
          <a:xfrm>
            <a:off x="1508760" y="1965960"/>
            <a:ext cx="9418320" cy="658368"/>
          </a:xfrm>
          <a:prstGeom prst="rect">
            <a:avLst/>
          </a:prstGeom>
          <a:noFill/>
        </p:spPr>
        <p:txBody>
          <a:bodyPr wrap="square">
            <a:spAutoFit/>
          </a:bodyPr>
          <a:lstStyle/>
          <a:p>
            <a:pPr algn="l"/>
            <a:r>
              <a:rPr sz="1300" b="0" i="0">
                <a:solidFill>
                  <a:srgbClr val="BDD7EE"/>
                </a:solidFill>
                <a:latin typeface="Calibri"/>
              </a:rPr>
              <a:t>Sacrificamos O(N log N) en memoria para eliminar el cuello de botella temporal.
El costo de precomputación se amortiza con cada consulta procesada.</a:t>
            </a:r>
          </a:p>
        </p:txBody>
      </p:sp>
      <p:sp>
        <p:nvSpPr>
          <p:cNvPr id="12" name="Rectangle 11"/>
          <p:cNvSpPr/>
          <p:nvPr/>
        </p:nvSpPr>
        <p:spPr>
          <a:xfrm>
            <a:off x="685800" y="2770632"/>
            <a:ext cx="10515600" cy="1143000"/>
          </a:xfrm>
          <a:prstGeom prst="rect">
            <a:avLst/>
          </a:prstGeom>
          <a:solidFill>
            <a:srgbClr val="173A60"/>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71800"/>
            <a:ext cx="640080" cy="640080"/>
          </a:xfrm>
          <a:prstGeom prst="rect">
            <a:avLst/>
          </a:prstGeom>
          <a:noFill/>
        </p:spPr>
        <p:txBody>
          <a:bodyPr wrap="square">
            <a:spAutoFit/>
          </a:bodyPr>
          <a:lstStyle/>
          <a:p>
            <a:pPr algn="ctr"/>
            <a:r>
              <a:rPr sz="2000" b="0" i="0">
                <a:solidFill>
                  <a:srgbClr val="262626"/>
                </a:solidFill>
                <a:latin typeface="Calibri"/>
              </a:rPr>
              <a:t>📐</a:t>
            </a:r>
          </a:p>
        </p:txBody>
      </p:sp>
      <p:sp>
        <p:nvSpPr>
          <p:cNvPr id="14" name="TextBox 13"/>
          <p:cNvSpPr txBox="1"/>
          <p:nvPr/>
        </p:nvSpPr>
        <p:spPr>
          <a:xfrm>
            <a:off x="1508760" y="2843784"/>
            <a:ext cx="9418320" cy="384048"/>
          </a:xfrm>
          <a:prstGeom prst="rect">
            <a:avLst/>
          </a:prstGeom>
          <a:noFill/>
        </p:spPr>
        <p:txBody>
          <a:bodyPr wrap="square">
            <a:spAutoFit/>
          </a:bodyPr>
          <a:lstStyle/>
          <a:p>
            <a:pPr algn="l"/>
            <a:r>
              <a:rPr sz="1500" b="1" i="0">
                <a:solidFill>
                  <a:srgbClr val="FFC000"/>
                </a:solidFill>
                <a:latin typeface="Calibri"/>
              </a:rPr>
              <a:t>Propiedad algebraica como ventaja</a:t>
            </a:r>
          </a:p>
        </p:txBody>
      </p:sp>
      <p:sp>
        <p:nvSpPr>
          <p:cNvPr id="15" name="TextBox 14"/>
          <p:cNvSpPr txBox="1"/>
          <p:nvPr/>
        </p:nvSpPr>
        <p:spPr>
          <a:xfrm>
            <a:off x="1508760" y="3227832"/>
            <a:ext cx="9418320" cy="658368"/>
          </a:xfrm>
          <a:prstGeom prst="rect">
            <a:avLst/>
          </a:prstGeom>
          <a:noFill/>
        </p:spPr>
        <p:txBody>
          <a:bodyPr wrap="square">
            <a:spAutoFit/>
          </a:bodyPr>
          <a:lstStyle/>
          <a:p>
            <a:pPr algn="l"/>
            <a:r>
              <a:rPr sz="1300" b="0" i="0">
                <a:solidFill>
                  <a:srgbClr val="BDD7EE"/>
                </a:solidFill>
                <a:latin typeface="Calibri"/>
              </a:rPr>
              <a:t>La idempotencia del operador mínimo es la clave que habilita el solapamiento
de bloques sin alterar la correctitud del resultado.</a:t>
            </a:r>
          </a:p>
        </p:txBody>
      </p:sp>
      <p:sp>
        <p:nvSpPr>
          <p:cNvPr id="16" name="Rectangle 15"/>
          <p:cNvSpPr/>
          <p:nvPr/>
        </p:nvSpPr>
        <p:spPr>
          <a:xfrm>
            <a:off x="685800" y="4032504"/>
            <a:ext cx="10515600" cy="1143000"/>
          </a:xfrm>
          <a:prstGeom prst="rect">
            <a:avLst/>
          </a:prstGeom>
          <a:solidFill>
            <a:srgbClr val="173A60"/>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33672"/>
            <a:ext cx="640080" cy="640080"/>
          </a:xfrm>
          <a:prstGeom prst="rect">
            <a:avLst/>
          </a:prstGeom>
          <a:noFill/>
        </p:spPr>
        <p:txBody>
          <a:bodyPr wrap="square">
            <a:spAutoFit/>
          </a:bodyPr>
          <a:lstStyle/>
          <a:p>
            <a:pPr algn="ctr"/>
            <a:r>
              <a:rPr sz="2000" b="0" i="0">
                <a:solidFill>
                  <a:srgbClr val="262626"/>
                </a:solidFill>
                <a:latin typeface="Calibri"/>
              </a:rPr>
              <a:t>📈</a:t>
            </a:r>
          </a:p>
        </p:txBody>
      </p:sp>
      <p:sp>
        <p:nvSpPr>
          <p:cNvPr id="18" name="TextBox 17"/>
          <p:cNvSpPr txBox="1"/>
          <p:nvPr/>
        </p:nvSpPr>
        <p:spPr>
          <a:xfrm>
            <a:off x="1508760" y="4105656"/>
            <a:ext cx="9418320" cy="384048"/>
          </a:xfrm>
          <a:prstGeom prst="rect">
            <a:avLst/>
          </a:prstGeom>
          <a:noFill/>
        </p:spPr>
        <p:txBody>
          <a:bodyPr wrap="square">
            <a:spAutoFit/>
          </a:bodyPr>
          <a:lstStyle/>
          <a:p>
            <a:pPr algn="l"/>
            <a:r>
              <a:rPr sz="1500" b="1" i="0">
                <a:solidFill>
                  <a:srgbClr val="FFC000"/>
                </a:solidFill>
                <a:latin typeface="Calibri"/>
              </a:rPr>
              <a:t>Escalabilidad demostrada</a:t>
            </a:r>
          </a:p>
        </p:txBody>
      </p:sp>
      <p:sp>
        <p:nvSpPr>
          <p:cNvPr id="19" name="TextBox 18"/>
          <p:cNvSpPr txBox="1"/>
          <p:nvPr/>
        </p:nvSpPr>
        <p:spPr>
          <a:xfrm>
            <a:off x="1508760" y="4489704"/>
            <a:ext cx="9418320" cy="658368"/>
          </a:xfrm>
          <a:prstGeom prst="rect">
            <a:avLst/>
          </a:prstGeom>
          <a:noFill/>
        </p:spPr>
        <p:txBody>
          <a:bodyPr wrap="square">
            <a:spAutoFit/>
          </a:bodyPr>
          <a:lstStyle/>
          <a:p>
            <a:pPr algn="l"/>
            <a:r>
              <a:rPr sz="1300" b="0" i="0">
                <a:solidFill>
                  <a:srgbClr val="BDD7EE"/>
                </a:solidFill>
                <a:latin typeface="Calibri"/>
              </a:rPr>
              <a:t>3,743× más rápido en consultas para N=500K, Q=1M.
De 51 minutos a 0.83 segundos. La diferencia entre viable e inviable.</a:t>
            </a:r>
          </a:p>
        </p:txBody>
      </p:sp>
      <p:sp>
        <p:nvSpPr>
          <p:cNvPr id="20" name="Rectangle 19"/>
          <p:cNvSpPr/>
          <p:nvPr/>
        </p:nvSpPr>
        <p:spPr>
          <a:xfrm>
            <a:off x="685800" y="5294375"/>
            <a:ext cx="10515600" cy="1143000"/>
          </a:xfrm>
          <a:prstGeom prst="rect">
            <a:avLst/>
          </a:prstGeom>
          <a:solidFill>
            <a:srgbClr val="173A60"/>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95543"/>
            <a:ext cx="640080" cy="640080"/>
          </a:xfrm>
          <a:prstGeom prst="rect">
            <a:avLst/>
          </a:prstGeom>
          <a:noFill/>
        </p:spPr>
        <p:txBody>
          <a:bodyPr wrap="square">
            <a:spAutoFit/>
          </a:bodyPr>
          <a:lstStyle/>
          <a:p>
            <a:pPr algn="ctr"/>
            <a:r>
              <a:rPr sz="2000" b="0" i="0">
                <a:solidFill>
                  <a:srgbClr val="262626"/>
                </a:solidFill>
                <a:latin typeface="Calibri"/>
              </a:rPr>
              <a:t>🔗</a:t>
            </a:r>
          </a:p>
        </p:txBody>
      </p:sp>
      <p:sp>
        <p:nvSpPr>
          <p:cNvPr id="22" name="TextBox 21"/>
          <p:cNvSpPr txBox="1"/>
          <p:nvPr/>
        </p:nvSpPr>
        <p:spPr>
          <a:xfrm>
            <a:off x="1508760" y="5367527"/>
            <a:ext cx="9418320" cy="384048"/>
          </a:xfrm>
          <a:prstGeom prst="rect">
            <a:avLst/>
          </a:prstGeom>
          <a:noFill/>
        </p:spPr>
        <p:txBody>
          <a:bodyPr wrap="square">
            <a:spAutoFit/>
          </a:bodyPr>
          <a:lstStyle/>
          <a:p>
            <a:pPr algn="l"/>
            <a:r>
              <a:rPr sz="1500" b="1" i="0">
                <a:solidFill>
                  <a:srgbClr val="FFC000"/>
                </a:solidFill>
                <a:latin typeface="Calibri"/>
              </a:rPr>
              <a:t>Código disponible</a:t>
            </a:r>
          </a:p>
        </p:txBody>
      </p:sp>
      <p:sp>
        <p:nvSpPr>
          <p:cNvPr id="23" name="TextBox 22"/>
          <p:cNvSpPr txBox="1"/>
          <p:nvPr/>
        </p:nvSpPr>
        <p:spPr>
          <a:xfrm>
            <a:off x="1508760" y="5751575"/>
            <a:ext cx="9418320" cy="658368"/>
          </a:xfrm>
          <a:prstGeom prst="rect">
            <a:avLst/>
          </a:prstGeom>
          <a:noFill/>
        </p:spPr>
        <p:txBody>
          <a:bodyPr wrap="square">
            <a:spAutoFit/>
          </a:bodyPr>
          <a:lstStyle/>
          <a:p>
            <a:pPr algn="l"/>
            <a:r>
              <a:rPr sz="1300" b="0" i="0">
                <a:solidFill>
                  <a:srgbClr val="BDD7EE"/>
                </a:solidFill>
                <a:latin typeface="Calibri"/>
              </a:rPr>
              <a:t>github.com/nicotitopp/trabajoFinal  (rama: dev-nico)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